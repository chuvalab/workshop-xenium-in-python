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4"/>
    <p:sldMasterId id="2147483811" r:id="rId5"/>
  </p:sldMasterIdLst>
  <p:notesMasterIdLst>
    <p:notesMasterId r:id="rId29"/>
  </p:notesMasterIdLst>
  <p:handoutMasterIdLst>
    <p:handoutMasterId r:id="rId30"/>
  </p:handoutMasterIdLst>
  <p:sldIdLst>
    <p:sldId id="256" r:id="rId6"/>
    <p:sldId id="257" r:id="rId7"/>
    <p:sldId id="259" r:id="rId8"/>
    <p:sldId id="262" r:id="rId9"/>
    <p:sldId id="289" r:id="rId10"/>
    <p:sldId id="260" r:id="rId11"/>
    <p:sldId id="264" r:id="rId12"/>
    <p:sldId id="258" r:id="rId13"/>
    <p:sldId id="290" r:id="rId14"/>
    <p:sldId id="265" r:id="rId15"/>
    <p:sldId id="266" r:id="rId16"/>
    <p:sldId id="270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8" r:id="rId2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 | Instructions" id="{57C8B40F-F360-4326-8328-CF1BBE953922}">
          <p14:sldIdLst>
            <p14:sldId id="256"/>
            <p14:sldId id="257"/>
            <p14:sldId id="259"/>
            <p14:sldId id="262"/>
            <p14:sldId id="289"/>
            <p14:sldId id="260"/>
            <p14:sldId id="264"/>
            <p14:sldId id="258"/>
            <p14:sldId id="290"/>
            <p14:sldId id="265"/>
            <p14:sldId id="266"/>
            <p14:sldId id="270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58"/>
    <a:srgbClr val="EAEAEA"/>
    <a:srgbClr val="F9F9F9"/>
    <a:srgbClr val="FFFFFF"/>
    <a:srgbClr val="EEF7E9"/>
    <a:srgbClr val="333333"/>
    <a:srgbClr val="C9D2EB"/>
    <a:srgbClr val="E7E6E6"/>
    <a:srgbClr val="BCD2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31" autoAdjust="0"/>
  </p:normalViewPr>
  <p:slideViewPr>
    <p:cSldViewPr snapToGrid="0">
      <p:cViewPr varScale="1">
        <p:scale>
          <a:sx n="114" d="100"/>
          <a:sy n="114" d="100"/>
        </p:scale>
        <p:origin x="2606" y="101"/>
      </p:cViewPr>
      <p:guideLst>
        <p:guide orient="horz" pos="2183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06-09-2026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6-9-2026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Two mornings, 09:30-12:30. Everything is in the GitHub repo; the notebooks are the course and these slides are the connective tissue.</a:t>
            </a:r>
          </a:p>
          <a:p>
            <a:endParaRPr/>
          </a:p>
          <a:p>
            <a:r>
              <a:t>Ask on arrival: who has clustered scRNA-seq data before? Seat mixed pairs.</a:t>
            </a:r>
          </a:p>
          <a:p>
            <a:endParaRPr/>
          </a:p>
          <a:p>
            <a:r>
              <a:t>Set the frame immediately: the one question this workshop is built around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skip this slide. The commonest failure mode in spatial transcriptomics is doing scRNA-seq with a scatter plot at the end.</a:t>
            </a:r>
          </a:p>
          <a:p>
            <a:endParaRPr/>
          </a:p>
          <a:p>
            <a:r>
              <a:t>Ask the room for their own tissue and question - you collected these in advance. Refer back to them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brief - 3 minutes. The detail that matters downstream is that decoding and segmentation are two separate, independently fallible steps, and the negative controls in notebook 02 measure them separately.</a:t>
            </a:r>
          </a:p>
          <a:p>
            <a:endParaRPr/>
          </a:p>
          <a:p>
            <a:r>
              <a:t>QV is Phred-style. 10x filters at QV&gt;=20 before building the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idea of day 1. Say it slowly.</a:t>
            </a:r>
          </a:p>
          <a:p>
            <a:endParaRPr/>
          </a:p>
          <a:p>
            <a:r>
              <a:t>In notebook 01 they will plot transcripts with boundaries overlaid and see unassigned molecules with their own eyes. Come back to this slide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B3119-EB47-0C99-0113-7372DDE7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00B9A-D191-C1B0-1613-1D48EBF1B4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2A7EA-C00B-C9BF-4544-016503DE7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brief - 3 minutes. The detail that matters downstream is that decoding and segmentation are two separate, independently fallible steps, and the negative controls in notebook 02 measure them separately.</a:t>
            </a:r>
          </a:p>
          <a:p>
            <a:endParaRPr/>
          </a:p>
          <a:p>
            <a:r>
              <a:t>QV is Phred-style. 10x filters at QV&gt;=20 before building the matrix.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607A1-B8F0-6AA2-E1BB-400E0A5BF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7432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full run in Xenium Explorer here - 5 minutes, live. Zoom from the whole section down to individual transcripts. Nothing on a slide communicates the scale of this data as well.</a:t>
            </a:r>
          </a:p>
          <a:p>
            <a:endParaRPr/>
          </a:p>
          <a:p>
            <a:r>
              <a:t>Point out where the teaching crop sits within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split matters: it tells you WHICH part of the pipeline is misbehaving.</a:t>
            </a:r>
          </a:p>
          <a:p>
            <a:endParaRPr/>
          </a:p>
          <a:p>
            <a:r>
              <a:t>The last bullet is the one that saves careers. Weakly expressed genes are the exciting ones - transcription factors, receptors - and the ones the controls tell you least to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minutes now, and come back to it at the start of day 2. People lose track of where they are in a two-morning workshop, and this is the map.</a:t>
            </a:r>
          </a:p>
          <a:p>
            <a:endParaRPr/>
          </a:p>
          <a:p>
            <a:r>
              <a:t>Three things to point at:</a:t>
            </a:r>
          </a:p>
          <a:p>
            <a:endParaRPr/>
          </a:p>
          <a:p>
            <a:r>
              <a:t>The file names on the dotted lines. 'Which file feeds what' is the question you will be asked most often, and it is answered here.</a:t>
            </a:r>
          </a:p>
          <a:p>
            <a:endParaRPr/>
          </a:p>
          <a:p>
            <a:r>
              <a:t>The orange labels: four places where THEY decide, not us. Thresholds, n_pcs, n_neighbors and resolution, and where to place the axis. That is deliberate - there is no correct value for any of them.</a:t>
            </a:r>
          </a:p>
          <a:p>
            <a:endParaRPr/>
          </a:p>
          <a:p>
            <a:r>
              <a:t>The band across the middle. Everything on the top row is single-cell analysis with the coordinates carried along but unused. Day 2 is the whole reason for the experiment. If you only make one point from this slide, make that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508E-089C-4120-F0EE-8D297FEA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59E89-EB5B-F171-45A2-6BAE29B7B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80ABE-5558-0C0D-9CC5-4F8AA1E27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split matters: it tells you WHICH part of the pipeline is misbehaving.</a:t>
            </a:r>
          </a:p>
          <a:p>
            <a:endParaRPr/>
          </a:p>
          <a:p>
            <a:r>
              <a:t>The last bullet is the one that saves careers. Weakly expressed genes are the exciting ones - transcription factors, receptors - and the ones the controls tell you least to trust.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47022-745D-0EF0-38D6-7D05F729B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503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the four quadrants on the whiteboard while they run the hexbin cell.</a:t>
            </a:r>
          </a:p>
          <a:p>
            <a:endParaRPr/>
          </a:p>
          <a:p>
            <a:r>
              <a:t>The doublet point comes up every single time. scRNA-seq doublet tools model two transcriptomes summed in a droplet. Here you have a polygon problem, and unlike in scRNA-seq you can go and look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check has no scRNA-seq equivalent - there is nowhere to plot it.</a:t>
            </a:r>
          </a:p>
          <a:p>
            <a:endParaRPr/>
          </a:p>
          <a:p>
            <a:r>
              <a:t>Concrete example worth giving: raising min_counts from 10 to 25 preferentially deletes small, low-cytoplasm cells, i.e. lymphocytes. Every immune co-localisation result downstream then changes. This is a real source of disagreement between published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Deliberately one slide. The full argument is in appendix notebook A2, which has a diagnostic and an explorer that runs six remedies.</a:t>
            </a:r>
          </a:p>
          <a:p>
            <a:endParaRPr/>
          </a:p>
          <a:p>
            <a:r>
              <a:t>The HVG point is the one that changes what people do, so do not rush it.</a:t>
            </a:r>
          </a:p>
          <a:p>
            <a:endParaRPr/>
          </a:p>
          <a:p>
            <a:r>
              <a:t>Set up the caveat properly: this dataset HAS a depth artefact, and they will see PC1 tracking detection rate two slides from now. Better to promise it here and deliver than to explain it abstractly.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cells, four genes, and raw counts that mislead in both directions. Walk it left to right; three minutes.</a:t>
            </a:r>
          </a:p>
          <a:p>
            <a:endParaRPr/>
          </a:p>
          <a:p>
            <a:r>
              <a:t>Panel 1: cell A caught 800 transcripts, cell B only 200. EPCAM looks four times higher in A. Ask the room whether they believe it.</a:t>
            </a:r>
          </a:p>
          <a:p>
            <a:endParaRPr/>
          </a:p>
          <a:p>
            <a:r>
              <a:t>Panel 2: divide each cell by its own total, multiply by the median cell. EPCAM turns out equal - the apparent difference was entirely depth. And PTPRC, which looked about the same at 8 versus 12, is six times higher in cell B. Raw counts were wrong in both directions, which is the point.</a:t>
            </a:r>
          </a:p>
          <a:p>
            <a:endParaRPr/>
          </a:p>
          <a:p>
            <a:r>
              <a:t>Panel 3: log1p. Two reasons. Without it a handful of very abundant genes dominate every distance, so the neighbour graph is built almost entirely on them. And it makes ratios comparable: 1 to 2 and 100 to 200 become the same step, which is usually what you mean biologically. The +1 exists because log(0) is undefined and most entries are zero.</a:t>
            </a:r>
          </a:p>
          <a:p>
            <a:endParaRPr/>
          </a:p>
          <a:p>
            <a:r>
              <a:t>If someone asks why the median rather than a fixed number like 100: it keeps the values on the scale people are used to reading, and avoids inflating variance in sparse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four panels in order; the room can follow the arrow of the argument without you reading the bullets.</a:t>
            </a:r>
          </a:p>
          <a:p>
            <a:endParaRPr/>
          </a:p>
          <a:p>
            <a:r>
              <a:t>Note the colours only appear in panel 4. Until Leiden runs, nothing has told you there are three groups - the grey is deliberate.</a:t>
            </a:r>
          </a:p>
          <a:p>
            <a:endParaRPr/>
          </a:p>
          <a:p>
            <a:r>
              <a:t>Two analogies that land: PCA is describing a face with a few measurements rather than every pixel. The graph is a social network - Leiden finds friendship groups, UMAP seats everyone so friends sit together.</a:t>
            </a:r>
          </a:p>
          <a:p>
            <a:endParaRPr/>
          </a:p>
          <a:p>
            <a:r>
              <a:t>The sibling point is the one to labour: people assume Leiden clusters the UMAP, and that assumption drives most of the misreadings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Aim at the beginners. The one-axis-per-gene framing is what makes 'reduce dimensionality' concrete rather than a phrase people nod at.</a:t>
            </a:r>
          </a:p>
          <a:p>
            <a:endParaRPr/>
          </a:p>
          <a:p>
            <a:r>
              <a:t>The loadings point is practical: notebook 03 prints the top positive and negative loadings of PC1, and if the two lists look like two cell types then PC1 is biology and dropping it would be a mistake.</a:t>
            </a:r>
          </a:p>
          <a:p>
            <a:endParaRPr/>
          </a:p>
          <a:p>
            <a:r>
              <a:t>The last bullet is the bridge to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PC-versus-QC correlation is the concrete diagnostic to demonstrate:</a:t>
            </a:r>
          </a:p>
          <a:p>
            <a:endParaRPr/>
          </a:p>
          <a:p>
            <a:r>
              <a:t>  import numpy as np</a:t>
            </a:r>
          </a:p>
          <a:p>
            <a:r>
              <a:t>  for i in range(5):</a:t>
            </a:r>
          </a:p>
          <a:p>
            <a:r>
              <a:t>      r = np.corrcoef(adata.obsm['X_pca'][:, i],</a:t>
            </a:r>
          </a:p>
          <a:p>
            <a:r>
              <a:t>                      adata.obs['total_counts'])[0, 1]</a:t>
            </a:r>
          </a:p>
          <a:p>
            <a:r>
              <a:t>      print(i, round(r, 2))</a:t>
            </a:r>
          </a:p>
          <a:p>
            <a:endParaRPr/>
          </a:p>
          <a:p>
            <a:r>
              <a:t>If PC1 correlates above ~0.6 with total_counts, go back to normalisation rather than tuning anything downstream.</a:t>
            </a:r>
          </a:p>
          <a:p>
            <a:endParaRPr/>
          </a:p>
          <a:p>
            <a:r>
              <a:t>OUR DATASET HAS THIS PROBLEM - use it. Notebook 03 has a fix-explorer that runs six remedies and reports how much depth each removes and how much it rearranges the embedding. The punchline is that no numerical criterion picks the winner: you cluster under two schemes and plot both on the tissue, and the one that looks like histology wins. That is the workshop thesis arriving in the middle of a normalisation discussion, so do not rush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expression-versus-spatial graph confusion catches almost everyone. Draw both on the whiteboard if you have time; it is worth two minutes.</a:t>
            </a:r>
          </a:p>
          <a:p>
            <a:endParaRPr/>
          </a:p>
          <a:p>
            <a:r>
              <a:t>On stability: adjusted Rand index across three random seeds. Below about 0.7 means the resolution is finer than the data supports.</a:t>
            </a:r>
          </a:p>
          <a:p>
            <a:endParaRPr/>
          </a:p>
          <a:p>
            <a:r>
              <a:t>Resist giving a single 'correct' resolution. The honest answer is that it depends on the question - immune subtypes need finer than tissue compartments.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n_neighbors / min_dist distinction is the one worth being precise about. One is shared with the clustering; the other is purely cosmetic.</a:t>
            </a:r>
          </a:p>
          <a:p>
            <a:endParaRPr/>
          </a:p>
          <a:p>
            <a:r>
              <a:t>In notebook 03 they run min_dist=0.05 and min_dist=0.8 and watch the printed cluster count stay identical. That is a two-minute exercise that settles the argument better than this slide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 row: identical cells, identical clusters, two runs of the layout. Ask the room which one is correct. Neither - and that is the point.</a:t>
            </a:r>
          </a:p>
          <a:p>
            <a:endParaRPr/>
          </a:p>
          <a:p>
            <a:r>
              <a:t>Bottom left: the first two points are what people quietly believe and then write into figure legends. Ask whether anyone has written 'cluster 3 sits between 1 and 2, suggesting an intermediate state'. That needs a trajectory method, not a UMAP.</a:t>
            </a:r>
          </a:p>
          <a:p>
            <a:endParaRPr/>
          </a:p>
          <a:p>
            <a:r>
              <a:t>Bottom right is the payoff and the workshop thesis in one panel: a nest, a band, a rim around the nest. Real axes, in microns, every distance a measurement. When you have this plot available, prefer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to spend time on. Same cells, same expression matrix, same clustering - four pictures that would support four different abstracts.</a:t>
            </a:r>
          </a:p>
          <a:p>
            <a:endParaRPr/>
          </a:p>
          <a:p>
            <a:r>
              <a:t>Panel 1 you could describe as rare subtypes. Panel 3 as a differentiation trajectory. Panel 4 is panel 2 with only the spacing changed, and the gaps look more convincing for it.</a:t>
            </a:r>
          </a:p>
          <a:p>
            <a:endParaRPr/>
          </a:p>
          <a:p>
            <a:r>
              <a:t>Ask the room directly: which of these is the correct picture? None of them. They are four drawings of one graph.</a:t>
            </a:r>
          </a:p>
          <a:p>
            <a:endParaRPr/>
          </a:p>
          <a:p>
            <a:r>
              <a:t>Then the constructive part, because this should not leave people cynical: report the parameters, do not tune them after seeing the result, and treat a UMAP as a way to look rather than as evidence. In this field you also have a better plot available - the tissue - where the axes are microns and every distance is a measurement.</a:t>
            </a:r>
          </a:p>
          <a:p>
            <a:endParaRPr/>
          </a:p>
          <a:p>
            <a:r>
              <a:t>Same hazard as choosing a QC threshold after seeing which cells it removes.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common false discovery in imaging-based spatial data, and check 3 is the one your audience is best equipped to do.</a:t>
            </a:r>
          </a:p>
          <a:p>
            <a:endParaRPr/>
          </a:p>
          <a:p>
            <a:r>
              <a:t>Say clearly: a technical cluster is not a mistake to be ashamed of - it is information about your segmentation. The mistake is annotating it as a cell type and building a story on it.</a:t>
            </a:r>
          </a:p>
          <a:p>
            <a:endParaRPr/>
          </a:p>
          <a:p>
            <a:r>
              <a:t>Note that regressing out total_counts is NOT the automatic fix, because here it partly encodes cell size, which is partly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 6 needs saying out loud: never run clustering on UMAP coordinates. UMAP distances beyond the local neighbourhood are not meaningful, and people do this surprisingly often.</a:t>
            </a:r>
          </a:p>
          <a:p>
            <a:endParaRPr/>
          </a:p>
          <a:p>
            <a:r>
              <a:t>Step 9 is the payoff and the thing that makes this different from scRNA-seq. A clustering that produces a tissue map looking like static is wrong, no matter how clean the UMAP is.</a:t>
            </a:r>
          </a:p>
          <a:p>
            <a:endParaRPr/>
          </a:p>
          <a:p>
            <a:r>
              <a:t>If you are short of time, this slide alone is a usable summary of day 1's second half - it is the one to leave on screen during the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feedback on paper, three questions: what will you do differently; what was too fast or too slow; what did you expect to learn and did not.</a:t>
            </a:r>
          </a:p>
          <a:p>
            <a:endParaRPr/>
          </a:p>
          <a:p>
            <a:r>
              <a:t>The third question is the one that improves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ringen | With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ngen  | Rings" descr="Afbeelding met cirkel, astronomie, kunst&#10;&#10;Door AI gegenereerde inhoud is mogelijk onjuist.">
            <a:extLst>
              <a:ext uri="{FF2B5EF4-FFF2-40B4-BE49-F238E27FC236}">
                <a16:creationId xmlns:a16="http://schemas.microsoft.com/office/drawing/2014/main" id="{2B8CC4EC-6F14-EB4B-2CCE-011FD848A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1"/>
            <a:ext cx="10088046" cy="6857433"/>
          </a:xfrm>
          <a:prstGeom prst="rect">
            <a:avLst/>
          </a:prstGeom>
        </p:spPr>
      </p:pic>
      <p:sp>
        <p:nvSpPr>
          <p:cNvPr id="2" name="Titelachtergrond | Title background">
            <a:extLst>
              <a:ext uri="{FF2B5EF4-FFF2-40B4-BE49-F238E27FC236}">
                <a16:creationId xmlns:a16="http://schemas.microsoft.com/office/drawing/2014/main" id="{06A374E3-2136-8ECB-CEAB-D18BA8E40FB1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dertitel | Subtitle">
            <a:extLst>
              <a:ext uri="{FF2B5EF4-FFF2-40B4-BE49-F238E27FC236}">
                <a16:creationId xmlns:a16="http://schemas.microsoft.com/office/drawing/2014/main" id="{0B62575E-DF3C-6BB5-20F5-AA3588ADF8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="0" i="0" kern="1200" baseline="0" dirty="0">
                <a:solidFill>
                  <a:srgbClr val="BCD2FF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7" name="Titel | Title">
            <a:extLst>
              <a:ext uri="{FF2B5EF4-FFF2-40B4-BE49-F238E27FC236}">
                <a16:creationId xmlns:a16="http://schemas.microsoft.com/office/drawing/2014/main" id="{757E5638-38C2-5190-9D25-B388016DD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4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ringen | Without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achtergrond | Title background">
            <a:extLst>
              <a:ext uri="{FF2B5EF4-FFF2-40B4-BE49-F238E27FC236}">
                <a16:creationId xmlns:a16="http://schemas.microsoft.com/office/drawing/2014/main" id="{4BF0381E-64FF-E4F7-BD58-236B750EA198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ndertitel | Subtitle">
            <a:extLst>
              <a:ext uri="{FF2B5EF4-FFF2-40B4-BE49-F238E27FC236}">
                <a16:creationId xmlns:a16="http://schemas.microsoft.com/office/drawing/2014/main" id="{81FE288D-BC76-D2E8-7E63-13602DBEC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3" name="Titel | Title">
            <a:extLst>
              <a:ext uri="{FF2B5EF4-FFF2-40B4-BE49-F238E27FC236}">
                <a16:creationId xmlns:a16="http://schemas.microsoft.com/office/drawing/2014/main" id="{510BC5AA-CA89-2FCB-B262-4D5946378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8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fbeelding | No imag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43331" y="4321694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 | Title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1829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erdere logo's | Multiple logos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3">
            <a:extLst>
              <a:ext uri="{FF2B5EF4-FFF2-40B4-BE49-F238E27FC236}">
                <a16:creationId xmlns:a16="http://schemas.microsoft.com/office/drawing/2014/main" id="{B1D7F52C-D248-4FDE-5E63-045149F50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84034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Logo 2">
            <a:extLst>
              <a:ext uri="{FF2B5EF4-FFF2-40B4-BE49-F238E27FC236}">
                <a16:creationId xmlns:a16="http://schemas.microsoft.com/office/drawing/2014/main" id="{273FD905-044D-55D4-79DE-675229D97A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52200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559B194D-62F5-CD40-99D6-F7F3A2B0B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845" y="3285360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4" name="Titel | Title">
            <a:extLst>
              <a:ext uri="{FF2B5EF4-FFF2-40B4-BE49-F238E27FC236}">
                <a16:creationId xmlns:a16="http://schemas.microsoft.com/office/drawing/2014/main" id="{FF85C9EA-CA51-5575-F1CB-303A00E2F4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6343" y="62011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7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boogelement | With arc el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| Subtitle">
            <a:extLst>
              <a:ext uri="{FF2B5EF4-FFF2-40B4-BE49-F238E27FC236}">
                <a16:creationId xmlns:a16="http://schemas.microsoft.com/office/drawing/2014/main" id="{F49FADBE-8919-6039-4BBB-42334647D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noFill/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6" name="Titel | Title">
            <a:extLst>
              <a:ext uri="{FF2B5EF4-FFF2-40B4-BE49-F238E27FC236}">
                <a16:creationId xmlns:a16="http://schemas.microsoft.com/office/drawing/2014/main" id="{06D15347-39FC-2BC0-D79C-3FDC06831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noFill/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rgbClr val="001158"/>
                </a:solidFill>
              </a:defRPr>
            </a:lvl1pPr>
          </a:lstStyle>
          <a:p>
            <a:pPr lvl="0"/>
            <a:r>
              <a:rPr lang="nl-NL" dirty="0"/>
              <a:t>Tekst |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AFBD849F-165F-60B3-8C73-100A2E36EB06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6124575" cy="6858000"/>
          </a:xfrm>
          <a:custGeom>
            <a:avLst/>
            <a:gdLst>
              <a:gd name="csX0" fmla="*/ 5487683 w 6124575"/>
              <a:gd name="csY0" fmla="*/ 0 h 6858000"/>
              <a:gd name="csX1" fmla="*/ 5917563 w 6124575"/>
              <a:gd name="csY1" fmla="*/ 0 h 6858000"/>
              <a:gd name="csX2" fmla="*/ 5913999 w 6124575"/>
              <a:gd name="csY2" fmla="*/ 6153 h 6858000"/>
              <a:gd name="csX3" fmla="*/ 5961575 w 6124575"/>
              <a:gd name="csY3" fmla="*/ 6581852 h 6858000"/>
              <a:gd name="csX4" fmla="*/ 6124575 w 6124575"/>
              <a:gd name="csY4" fmla="*/ 6858000 h 6858000"/>
              <a:gd name="csX5" fmla="*/ 5694695 w 6124575"/>
              <a:gd name="csY5" fmla="*/ 6858000 h 6858000"/>
              <a:gd name="csX6" fmla="*/ 5531694 w 6124575"/>
              <a:gd name="csY6" fmla="*/ 6581852 h 6858000"/>
              <a:gd name="csX7" fmla="*/ 5484119 w 6124575"/>
              <a:gd name="csY7" fmla="*/ 6153 h 6858000"/>
              <a:gd name="csX8" fmla="*/ 0 w 6124575"/>
              <a:gd name="csY8" fmla="*/ 0 h 6858000"/>
              <a:gd name="csX9" fmla="*/ 4486275 w 6124575"/>
              <a:gd name="csY9" fmla="*/ 0 h 6858000"/>
              <a:gd name="csX10" fmla="*/ 4505325 w 6124575"/>
              <a:gd name="csY10" fmla="*/ 0 h 6858000"/>
              <a:gd name="csX11" fmla="*/ 5478471 w 6124575"/>
              <a:gd name="csY11" fmla="*/ 0 h 6858000"/>
              <a:gd name="csX12" fmla="*/ 5474907 w 6124575"/>
              <a:gd name="csY12" fmla="*/ 6153 h 6858000"/>
              <a:gd name="csX13" fmla="*/ 5522483 w 6124575"/>
              <a:gd name="csY13" fmla="*/ 6581852 h 6858000"/>
              <a:gd name="csX14" fmla="*/ 5685484 w 6124575"/>
              <a:gd name="csY14" fmla="*/ 6858000 h 6858000"/>
              <a:gd name="csX15" fmla="*/ 4505325 w 6124575"/>
              <a:gd name="csY15" fmla="*/ 6858000 h 6858000"/>
              <a:gd name="csX16" fmla="*/ 4486275 w 6124575"/>
              <a:gd name="csY16" fmla="*/ 6858000 h 6858000"/>
              <a:gd name="csX17" fmla="*/ 4253188 w 6124575"/>
              <a:gd name="csY17" fmla="*/ 6858000 h 6858000"/>
              <a:gd name="csX18" fmla="*/ 4253188 w 6124575"/>
              <a:gd name="csY18" fmla="*/ 6846325 h 6858000"/>
              <a:gd name="csX19" fmla="*/ 4115224 w 6124575"/>
              <a:gd name="csY19" fmla="*/ 6591055 h 6858000"/>
              <a:gd name="csX20" fmla="*/ 1827972 w 6124575"/>
              <a:gd name="csY20" fmla="*/ 5019124 h 6858000"/>
              <a:gd name="csX21" fmla="*/ 5461 w 6124575"/>
              <a:gd name="csY21" fmla="*/ 5574608 h 6858000"/>
              <a:gd name="csX22" fmla="*/ 546 w 6124575"/>
              <a:gd name="csY22" fmla="*/ 3403345 h 6858000"/>
              <a:gd name="csX23" fmla="*/ 0 w 6124575"/>
              <a:gd name="csY23" fmla="*/ 3270517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124575" h="6858000">
                <a:moveTo>
                  <a:pt x="5487683" y="0"/>
                </a:moveTo>
                <a:lnTo>
                  <a:pt x="5917563" y="0"/>
                </a:lnTo>
                <a:lnTo>
                  <a:pt x="5913999" y="6153"/>
                </a:lnTo>
                <a:cubicBezTo>
                  <a:pt x="5247669" y="1188468"/>
                  <a:pt x="4375232" y="3761764"/>
                  <a:pt x="5961575" y="6581852"/>
                </a:cubicBezTo>
                <a:lnTo>
                  <a:pt x="6124575" y="6858000"/>
                </a:lnTo>
                <a:lnTo>
                  <a:pt x="5694695" y="6858000"/>
                </a:lnTo>
                <a:lnTo>
                  <a:pt x="5531694" y="6581852"/>
                </a:lnTo>
                <a:cubicBezTo>
                  <a:pt x="3945351" y="3761764"/>
                  <a:pt x="4817789" y="1188468"/>
                  <a:pt x="5484119" y="6153"/>
                </a:cubicBezTo>
                <a:close/>
                <a:moveTo>
                  <a:pt x="0" y="0"/>
                </a:moveTo>
                <a:lnTo>
                  <a:pt x="4486275" y="0"/>
                </a:lnTo>
                <a:lnTo>
                  <a:pt x="4505325" y="0"/>
                </a:lnTo>
                <a:lnTo>
                  <a:pt x="5478471" y="0"/>
                </a:lnTo>
                <a:lnTo>
                  <a:pt x="5474907" y="6153"/>
                </a:lnTo>
                <a:cubicBezTo>
                  <a:pt x="4808578" y="1188468"/>
                  <a:pt x="3936140" y="3761764"/>
                  <a:pt x="5522483" y="6581852"/>
                </a:cubicBezTo>
                <a:lnTo>
                  <a:pt x="5685484" y="6858000"/>
                </a:lnTo>
                <a:lnTo>
                  <a:pt x="4505325" y="6858000"/>
                </a:lnTo>
                <a:lnTo>
                  <a:pt x="4486275" y="6858000"/>
                </a:lnTo>
                <a:lnTo>
                  <a:pt x="4253188" y="6858000"/>
                </a:lnTo>
                <a:lnTo>
                  <a:pt x="4253188" y="6846325"/>
                </a:lnTo>
                <a:lnTo>
                  <a:pt x="4115224" y="6591055"/>
                </a:lnTo>
                <a:cubicBezTo>
                  <a:pt x="3379343" y="5325554"/>
                  <a:pt x="2437778" y="5079864"/>
                  <a:pt x="1827972" y="5019124"/>
                </a:cubicBezTo>
                <a:cubicBezTo>
                  <a:pt x="1177513" y="4954336"/>
                  <a:pt x="448113" y="5230191"/>
                  <a:pt x="5461" y="5574608"/>
                </a:cubicBezTo>
                <a:cubicBezTo>
                  <a:pt x="5092" y="4720154"/>
                  <a:pt x="3030" y="4039966"/>
                  <a:pt x="546" y="3403345"/>
                </a:cubicBezTo>
                <a:lnTo>
                  <a:pt x="0" y="3270517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titel | Closing titl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30415" y="4141700"/>
            <a:ext cx="6712642" cy="106182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ctr">
              <a:defRPr lang="nl-NL" sz="35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8913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Eindtitel | </a:t>
            </a:r>
            <a:r>
              <a:rPr lang="nl-NL" dirty="0" err="1"/>
              <a:t>Closing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5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1301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a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DB96C91C-E0D4-EC11-3F8B-CAE7339B82E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43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961FC177-D146-B3C7-089B-2F0BF5E5ABA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1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chtergrond |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p | Heading">
            <a:extLst>
              <a:ext uri="{FF2B5EF4-FFF2-40B4-BE49-F238E27FC236}">
                <a16:creationId xmlns:a16="http://schemas.microsoft.com/office/drawing/2014/main" id="{E04281C4-5487-A8A8-A808-56030A9D0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" name="Tekst | Text">
            <a:extLst>
              <a:ext uri="{FF2B5EF4-FFF2-40B4-BE49-F238E27FC236}">
                <a16:creationId xmlns:a16="http://schemas.microsoft.com/office/drawing/2014/main" id="{26083E2E-6335-9F99-8170-5E37C58D0D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109983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blokken | Two 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84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27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4" name="Kop | Heading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5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sgalerij | Image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25396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04362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5186323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7340077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945280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69D8373-14CB-C760-4AB3-77C1A9C1B5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5396" y="4349325"/>
            <a:ext cx="1812262" cy="10128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400">
                <a:latin typeface="Vestula Pro" panose="020B0A03060302020204" pitchFamily="34" charset="0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lvl="0"/>
            <a:r>
              <a:rPr lang="nl-NL" dirty="0"/>
              <a:t>Onderschrift (optioneel)</a:t>
            </a:r>
          </a:p>
          <a:p>
            <a:pPr lvl="0"/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04F93ADE-5C0C-408E-7495-B8BA38C81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43624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2D8DE384-1B30-1B1D-344B-5776F2A940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7674" y="4341600"/>
            <a:ext cx="1810800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25BB4D9D-2AFB-D4EC-7B5F-B7AD8A723E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40077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F9FCF455-94FF-CC07-2CE6-4B2C2B5E81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342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939D5F5-DDB1-D692-3CCB-72A299604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925396" y="360000"/>
            <a:ext cx="103412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70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EN">
            <a:extLst>
              <a:ext uri="{FF2B5EF4-FFF2-40B4-BE49-F238E27FC236}">
                <a16:creationId xmlns:a16="http://schemas.microsoft.com/office/drawing/2014/main" id="{F060E9E6-F4FE-AF50-CB38-D7686AE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31497"/>
            <a:ext cx="4249280" cy="1926502"/>
          </a:xfrm>
          <a:prstGeom prst="rect">
            <a:avLst/>
          </a:prstGeom>
        </p:spPr>
      </p:pic>
      <p:pic>
        <p:nvPicPr>
          <p:cNvPr id="5" name="Logo NL" descr="Afbeelding met tekst, logo, symbool, Lettertype&#10;&#10;Door AI gegenereerde inhoud is mogelijk onjuist.">
            <a:extLst>
              <a:ext uri="{FF2B5EF4-FFF2-40B4-BE49-F238E27FC236}">
                <a16:creationId xmlns:a16="http://schemas.microsoft.com/office/drawing/2014/main" id="{48115860-2C01-1CEF-6C22-14E5BF50DD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1497"/>
            <a:ext cx="424928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5" r:id="rId4"/>
    <p:sldLayoutId id="2147483833" r:id="rId5"/>
    <p:sldLayoutId id="214748377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DC18183-0354-EBD2-86E1-3F4CAE2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Kop | </a:t>
            </a:r>
            <a:r>
              <a:rPr lang="nl-NL" dirty="0" err="1"/>
              <a:t>Heading</a:t>
            </a:r>
            <a:endParaRPr lang="en-US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9AE6F7-748E-3BDB-680C-7A4BABABC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39" r:id="rId3"/>
    <p:sldLayoutId id="2147483820" r:id="rId4"/>
    <p:sldLayoutId id="2147483822" r:id="rId5"/>
    <p:sldLayoutId id="2147483845" r:id="rId6"/>
    <p:sldLayoutId id="2147483838" r:id="rId7"/>
    <p:sldLayoutId id="2147483843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b="0" i="0" kern="1200" dirty="0">
          <a:solidFill>
            <a:srgbClr val="0C2577"/>
          </a:solidFill>
          <a:latin typeface="Merriweather" pitchFamily="2" charset="77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hands-on introduction</a:t>
            </a:r>
          </a:p>
          <a:p>
            <a:r>
              <a:t>Department of Anatomy &amp; Embryology, LUMC  ·  two mornings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Spatial transcriptomics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3007086" y="1841781"/>
            <a:ext cx="8346713" cy="4046537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1800" b="1" dirty="0"/>
              <a:t>Central question: What can you learn from a tissue section that you fundamentally cannot learn from dissociated cells?</a:t>
            </a:r>
          </a:p>
          <a:p>
            <a:pPr>
              <a:spcAft>
                <a:spcPts val="1400"/>
              </a:spcAft>
            </a:pPr>
            <a:r>
              <a:rPr sz="1800" b="0" dirty="0"/>
              <a:t>Everything we do maps back to this.</a:t>
            </a:r>
          </a:p>
          <a:p>
            <a:pPr>
              <a:spcAft>
                <a:spcPts val="1400"/>
              </a:spcAft>
            </a:pPr>
            <a:r>
              <a:rPr sz="1800" b="0" dirty="0"/>
              <a:t>Day 1 — what the data is, and how much of it you should believe</a:t>
            </a:r>
          </a:p>
          <a:p>
            <a:pPr>
              <a:spcAft>
                <a:spcPts val="1400"/>
              </a:spcAft>
            </a:pPr>
            <a:r>
              <a:rPr sz="1800" b="0" dirty="0"/>
              <a:t>Day 2 — using the coordinates for things </a:t>
            </a:r>
            <a:r>
              <a:rPr sz="1800" b="0" dirty="0" err="1"/>
              <a:t>scRNA</a:t>
            </a:r>
            <a:r>
              <a:rPr sz="1800" b="0" dirty="0"/>
              <a:t>-seq cannot do</a:t>
            </a:r>
          </a:p>
          <a:p>
            <a:pPr>
              <a:spcAft>
                <a:spcPts val="1400"/>
              </a:spcAft>
            </a:pPr>
            <a:r>
              <a:rPr sz="1800" b="0" dirty="0"/>
              <a:t>You will leave able to design your own experiment, and to referee somebody else's.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What</a:t>
            </a:r>
            <a:r>
              <a:rPr dirty="0"/>
              <a:t> </a:t>
            </a:r>
            <a:r>
              <a:rPr dirty="0" err="1"/>
              <a:t>will</a:t>
            </a:r>
            <a:r>
              <a:rPr dirty="0"/>
              <a:t> </a:t>
            </a:r>
            <a:r>
              <a:rPr dirty="0" err="1"/>
              <a:t>you</a:t>
            </a:r>
            <a:r>
              <a:rPr dirty="0"/>
              <a:t> </a:t>
            </a:r>
            <a:r>
              <a:rPr dirty="0" err="1"/>
              <a:t>learn</a:t>
            </a:r>
            <a:r>
              <a:rPr dirty="0"/>
              <a:t> in </a:t>
            </a:r>
            <a:r>
              <a:rPr dirty="0" err="1"/>
              <a:t>two</a:t>
            </a:r>
            <a:r>
              <a:rPr dirty="0"/>
              <a:t> </a:t>
            </a:r>
            <a:r>
              <a:rPr dirty="0" err="1"/>
              <a:t>mornings</a:t>
            </a:r>
            <a:endParaRPr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8400" y="360000"/>
            <a:ext cx="8348400" cy="1325563"/>
          </a:xfrm>
        </p:spPr>
        <p:txBody>
          <a:bodyPr/>
          <a:lstStyle/>
          <a:p>
            <a:r>
              <a:rPr lang="en-US" dirty="0"/>
              <a:t>What is the Xenium dataset?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494D13E-2B95-60D9-8C97-1017F96AD7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13CC4A4-D71C-85D3-8A4E-B30478A6BBB0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415403" y="1573212"/>
            <a:ext cx="8860108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Counts</a:t>
            </a:r>
          </a:p>
          <a:p>
            <a:pPr marL="40005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5,101 features × cells. That's the 5,001-gene pan-tissue panel plus a 100-gene custom add-on. Alongside them, 649 negative controls and several thousand unassigned, genomic and deprecated codewords, all of which sit in the matrix and none of which are genes. </a:t>
            </a:r>
          </a:p>
          <a:p>
            <a:pPr marL="40005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Cell table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row per cell: centroid in microns, cell and nucleus area, per-class control counts. This is what makes it spatial; everything else is ordinary single-cell data. </a:t>
            </a: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Transcripts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row per decoded molecule, with x, y,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decoding confidence. Tens of millions of rows for a full section. No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-seq equivalent exists. </a:t>
            </a: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Segmentation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cell and nucleus polygons. Worth stating explicitly that the count matrix is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these, not measured directly. </a:t>
            </a: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Morphology images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0005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DAPI plus boundary stains at ~0.2 µm/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what the segmentation was drawn from.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1"/>
              <a:t>It exists because somebody drew polygons around nuclei and assigned molecules to them.</a:t>
            </a:r>
          </a:p>
          <a:p>
            <a:pPr>
              <a:spcAft>
                <a:spcPts val="1000"/>
              </a:spcAft>
            </a:pPr>
            <a:r>
              <a:rPr sz="1700" b="0"/>
              <a:t>Typically 10–40% of transcripts are assigned to no cell at all</a:t>
            </a:r>
          </a:p>
          <a:p>
            <a:pPr>
              <a:spcAft>
                <a:spcPts val="1000"/>
              </a:spcAft>
            </a:pPr>
            <a:r>
              <a:rPr sz="1700" b="0"/>
              <a:t>The unassigned fraction differs by gene — so segmentation loss is a gene-specific bias, not just lost sensitivity</a:t>
            </a:r>
          </a:p>
          <a:p>
            <a:pPr>
              <a:spcAft>
                <a:spcPts val="1000"/>
              </a:spcAft>
            </a:pPr>
            <a:r>
              <a:rPr sz="1700" b="0"/>
              <a:t>A molecule on a boundary goes to whichever polygon the pipeline drew</a:t>
            </a:r>
          </a:p>
          <a:p>
            <a:pPr>
              <a:spcAft>
                <a:spcPts val="1000"/>
              </a:spcAft>
            </a:pPr>
            <a:r>
              <a:rPr sz="1700" b="0"/>
              <a:t>Every layer below the matrix is closer to the measurement</a:t>
            </a:r>
          </a:p>
          <a:p>
            <a:pPr>
              <a:spcAft>
                <a:spcPts val="1000"/>
              </a:spcAft>
            </a:pPr>
            <a:r>
              <a:rPr sz="1700" b="0"/>
              <a:t>If a result changes when you re-segment, it was a segmentation result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count matrix is a derived product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7C52-52E0-0DEE-D559-8550E99E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68036E-16D9-7405-0F54-2CF4F8B061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05423" y="6404199"/>
            <a:ext cx="8348400" cy="308625"/>
          </a:xfrm>
        </p:spPr>
        <p:txBody>
          <a:bodyPr wrap="square"/>
          <a:lstStyle/>
          <a:p>
            <a:pPr>
              <a:spcAft>
                <a:spcPts val="1200"/>
              </a:spcAft>
              <a:buNone/>
            </a:pPr>
            <a:r>
              <a:rPr sz="1700" b="1" dirty="0"/>
              <a:t>Steps 5 and 6 are where nearly every artefact is born.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1EAD26-713B-8CC9-91FA-F4A4F202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</a:t>
            </a:r>
            <a:r>
              <a:rPr dirty="0" err="1"/>
              <a:t>Xenium</a:t>
            </a:r>
            <a:r>
              <a:rPr dirty="0"/>
              <a:t> </a:t>
            </a:r>
            <a:r>
              <a:rPr dirty="0" err="1"/>
              <a:t>measures</a:t>
            </a:r>
            <a:r>
              <a:rPr dirty="0"/>
              <a:t> a transcript</a:t>
            </a:r>
          </a:p>
        </p:txBody>
      </p:sp>
      <p:pic>
        <p:nvPicPr>
          <p:cNvPr id="11" name="Picture 10" descr="A screenshot of a diagram&#10;&#10;AI-generated content may be incorrect.">
            <a:extLst>
              <a:ext uri="{FF2B5EF4-FFF2-40B4-BE49-F238E27FC236}">
                <a16:creationId xmlns:a16="http://schemas.microsoft.com/office/drawing/2014/main" id="{4C49B5D2-0EE3-1DE8-37DB-2999EC9C7E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84" y="1331090"/>
            <a:ext cx="11920816" cy="495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56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1"/>
              <a:t>Xenium Prime 5K — human ovarian cancer, FFPE</a:t>
            </a:r>
          </a:p>
          <a:p>
            <a:pPr>
              <a:spcAft>
                <a:spcPts val="1000"/>
              </a:spcAft>
            </a:pPr>
            <a:r>
              <a:rPr sz="1700" b="0"/>
              <a:t>~5,000 gene panel plus several classes of control codeword</a:t>
            </a:r>
          </a:p>
          <a:p>
            <a:pPr>
              <a:spcAft>
                <a:spcPts val="1000"/>
              </a:spcAft>
            </a:pPr>
            <a:r>
              <a:rPr sz="1700" b="0"/>
              <a:t>Multimodal segmentation: DAPI plus boundary stains (18S, ATP1A1, aCD45, E-cadherin)</a:t>
            </a:r>
          </a:p>
          <a:p>
            <a:pPr>
              <a:spcAft>
                <a:spcPts val="1000"/>
              </a:spcAft>
            </a:pPr>
            <a:r>
              <a:rPr sz="1700" b="0"/>
              <a:t>You have a spatial crop, roughly 1.5 x 1.5 mm — a contiguous rectangle, not a random sample of cells</a:t>
            </a:r>
          </a:p>
          <a:p>
            <a:pPr>
              <a:spcAft>
                <a:spcPts val="1000"/>
              </a:spcAft>
            </a:pPr>
            <a:r>
              <a:rPr sz="1700" b="0"/>
              <a:t>Why contiguous: every neighbourhood statistic on day 2 needs all the neighbours of every cell</a:t>
            </a:r>
          </a:p>
          <a:p>
            <a:pPr>
              <a:spcAft>
                <a:spcPts val="1000"/>
              </a:spcAft>
            </a:pPr>
            <a:r>
              <a:rPr sz="1700" b="0"/>
              <a:t>The full run is tens of gigabytes and will not open on your laptop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dataset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3007086" y="1608300"/>
            <a:ext cx="8346713" cy="874525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lang="nl-NL" sz="1700" dirty="0" err="1">
                <a:latin typeface="Lucida Sans Typewriter" panose="020B0509030504030204" pitchFamily="49" charset="0"/>
              </a:rPr>
              <a:t>Adata</a:t>
            </a:r>
            <a:r>
              <a:rPr lang="nl-NL" sz="1700" dirty="0">
                <a:latin typeface="Lucida Sans Typewriter" panose="020B0509030504030204" pitchFamily="49" charset="0"/>
              </a:rPr>
              <a:t> object</a:t>
            </a:r>
          </a:p>
          <a:p>
            <a:pPr lvl="1">
              <a:spcAft>
                <a:spcPts val="1000"/>
              </a:spcAft>
            </a:pPr>
            <a:r>
              <a:rPr lang="nl-NL" sz="1500" dirty="0"/>
              <a:t>The </a:t>
            </a:r>
            <a:r>
              <a:rPr lang="nl-NL" sz="1500" dirty="0" err="1"/>
              <a:t>adata</a:t>
            </a:r>
            <a:r>
              <a:rPr lang="nl-NL" sz="1500" dirty="0"/>
              <a:t> object is </a:t>
            </a:r>
            <a:r>
              <a:rPr lang="nl-NL" sz="1500" dirty="0" err="1"/>
              <a:t>where</a:t>
            </a:r>
            <a:r>
              <a:rPr lang="nl-NL" sz="1500" dirty="0"/>
              <a:t> </a:t>
            </a:r>
            <a:r>
              <a:rPr lang="nl-NL" sz="1500" dirty="0" err="1"/>
              <a:t>all</a:t>
            </a:r>
            <a:r>
              <a:rPr lang="nl-NL" sz="1500" dirty="0"/>
              <a:t> </a:t>
            </a:r>
            <a:r>
              <a:rPr lang="nl-NL" sz="1500" dirty="0" err="1"/>
              <a:t>the</a:t>
            </a:r>
            <a:r>
              <a:rPr lang="nl-NL" sz="1500" dirty="0"/>
              <a:t> data </a:t>
            </a:r>
            <a:r>
              <a:rPr lang="nl-NL" sz="1500" dirty="0" err="1"/>
              <a:t>lives</a:t>
            </a:r>
            <a:r>
              <a:rPr lang="nl-NL" sz="1500" dirty="0"/>
              <a:t>.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What</a:t>
            </a:r>
            <a:r>
              <a:rPr dirty="0"/>
              <a:t> is in </a:t>
            </a:r>
            <a:r>
              <a:rPr dirty="0" err="1"/>
              <a:t>the</a:t>
            </a:r>
            <a:r>
              <a:rPr dirty="0"/>
              <a:t> box? </a:t>
            </a:r>
            <a:r>
              <a:rPr dirty="0" err="1"/>
              <a:t>You</a:t>
            </a:r>
            <a:r>
              <a:rPr dirty="0"/>
              <a:t> </a:t>
            </a:r>
            <a:r>
              <a:rPr dirty="0" err="1"/>
              <a:t>will</a:t>
            </a:r>
            <a:r>
              <a:rPr dirty="0"/>
              <a:t> </a:t>
            </a:r>
            <a:r>
              <a:rPr dirty="0" err="1"/>
              <a:t>explore</a:t>
            </a:r>
            <a:r>
              <a:rPr dirty="0"/>
              <a:t>!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F81894-0EBA-B166-62F9-60BD13E02E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4" r="44632" b="3627"/>
          <a:stretch>
            <a:fillRect/>
          </a:stretch>
        </p:blipFill>
        <p:spPr>
          <a:xfrm>
            <a:off x="3497904" y="2482825"/>
            <a:ext cx="8167420" cy="4321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dirty="0" err="1"/>
              <a:t>whole</a:t>
            </a:r>
            <a:r>
              <a:rPr dirty="0"/>
              <a:t> workflow, on </a:t>
            </a:r>
            <a:r>
              <a:rPr dirty="0" err="1"/>
              <a:t>one</a:t>
            </a:r>
            <a:r>
              <a:rPr dirty="0"/>
              <a:t> slide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" y="1218303"/>
            <a:ext cx="12185643" cy="54776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51B5-09B4-0812-5C39-B266A692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1DB73596-C6C1-7948-0002-CDADEA087784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63026F-573D-FA3B-63FF-354579FFA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0" dirty="0"/>
              <a:t>Negative control probe — targets a sequence not in the tissue. Fires only on non-specific binding → measures chemistry</a:t>
            </a:r>
          </a:p>
          <a:p>
            <a:pPr>
              <a:spcAft>
                <a:spcPts val="1000"/>
              </a:spcAft>
            </a:pPr>
            <a:r>
              <a:rPr sz="1700" b="0" dirty="0"/>
              <a:t>Negative control codeword — a codeword no probe uses. Fires only on decoding error → measures optics</a:t>
            </a:r>
          </a:p>
          <a:p>
            <a:pPr>
              <a:spcAft>
                <a:spcPts val="1000"/>
              </a:spcAft>
            </a:pPr>
            <a:r>
              <a:rPr sz="1700" b="0" dirty="0"/>
              <a:t>Unassigned codeword — decoded to something not on the panel</a:t>
            </a:r>
          </a:p>
          <a:p>
            <a:pPr>
              <a:spcAft>
                <a:spcPts val="1000"/>
              </a:spcAft>
            </a:pPr>
            <a:r>
              <a:rPr sz="1700" b="0" dirty="0"/>
              <a:t>Compare per feature, not in total: there are far fewer controls than genes</a:t>
            </a:r>
          </a:p>
          <a:p>
            <a:pPr>
              <a:spcAft>
                <a:spcPts val="1000"/>
              </a:spcAft>
            </a:pPr>
            <a:r>
              <a:rPr sz="1700" b="1" dirty="0"/>
              <a:t>A gene sitting inside the control distribution is not measurable in your dataset — no matter how much you want it to be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619B4FC-4C11-1461-DFD6-FF2B1C3C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1 — the controls measure your background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CBECBD3-0AC7-D943-7057-E98B701D9D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9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0"/>
              <a:t>Plot transcripts per cell against cell area, both on log scales</a:t>
            </a:r>
          </a:p>
          <a:p>
            <a:pPr>
              <a:spcAft>
                <a:spcPts val="1000"/>
              </a:spcAft>
            </a:pPr>
            <a:r>
              <a:rPr sz="1700" b="0"/>
              <a:t>Small and empty  →  debris, or a nucleus clipped by the section plane</a:t>
            </a:r>
          </a:p>
          <a:p>
            <a:pPr>
              <a:spcAft>
                <a:spcPts val="1000"/>
              </a:spcAft>
            </a:pPr>
            <a:r>
              <a:rPr sz="1700" b="0"/>
              <a:t>Large and rich  →  two cells in one polygon: the spatial doublet</a:t>
            </a:r>
          </a:p>
          <a:p>
            <a:pPr>
              <a:spcAft>
                <a:spcPts val="1000"/>
              </a:spcAft>
            </a:pPr>
            <a:r>
              <a:rPr sz="1700" b="0"/>
              <a:t>Large and empty  →  a polygon drawn over extracellular space</a:t>
            </a:r>
          </a:p>
          <a:p>
            <a:pPr>
              <a:spcAft>
                <a:spcPts val="1000"/>
              </a:spcAft>
            </a:pPr>
            <a:r>
              <a:rPr sz="1700" b="0"/>
              <a:t>Nucleus/cell area piling up at 1.0  →  the segmentation gave that cell no cytoplasm</a:t>
            </a:r>
          </a:p>
          <a:p>
            <a:pPr>
              <a:spcAft>
                <a:spcPts val="1000"/>
              </a:spcAft>
            </a:pPr>
            <a:r>
              <a:rPr sz="1700" b="1"/>
              <a:t>Do not run scrublet or DoubletFinder here. This is a geometric failure and the fix is geometric.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2 — segmentation failure has a shape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 3 — the step everyone skips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600" b="1"/>
              <a:t>Put every QC metric back on the tissue and look at it.</a:t>
            </a:r>
          </a:p>
          <a:p>
            <a:pPr>
              <a:spcAft>
                <a:spcPts val="1000"/>
              </a:spcAft>
            </a:pPr>
            <a:r>
              <a:rPr sz="1600" b="0"/>
              <a:t>Straight edges, stripes, a grid  →  field-of-view stitching. Technical.</a:t>
            </a:r>
          </a:p>
          <a:p>
            <a:pPr>
              <a:spcAft>
                <a:spcPts val="1000"/>
              </a:spcAft>
            </a:pPr>
            <a:r>
              <a:rPr sz="1600" b="0"/>
              <a:t>A smooth gradient across the section  →  focus, thickness, permeabilisation</a:t>
            </a:r>
          </a:p>
          <a:p>
            <a:pPr>
              <a:spcAft>
                <a:spcPts val="1000"/>
              </a:spcAft>
            </a:pPr>
            <a:r>
              <a:rPr sz="1600" b="0"/>
              <a:t>A soft-edged blob of low counts  →  probably real: necrosis, dense collagen</a:t>
            </a:r>
          </a:p>
          <a:p>
            <a:pPr>
              <a:spcAft>
                <a:spcPts val="1000"/>
              </a:spcAft>
            </a:pPr>
            <a:r>
              <a:rPr sz="1600" b="0"/>
              <a:t>Anything following a fold or tear  →  exclude the region explicitly, rather than letting a count threshold do it invisibly</a:t>
            </a:r>
          </a:p>
          <a:p>
            <a:pPr>
              <a:spcAft>
                <a:spcPts val="1000"/>
              </a:spcAft>
            </a:pPr>
            <a:r>
              <a:rPr sz="1600" b="1"/>
              <a:t>Then ask the real question: do the cells my filter removed form a structure? If so, that is not a quality filter, it is a biology filter.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sz="1400" b="0"/>
              <a:t>A cell's total count mixes four things: how active it is, how big a polygon someone drew around it, how much leaked in from neighbours, and how well that part of the section was fixed and focused.</a:t>
            </a:r>
          </a:p>
          <a:p>
            <a:pPr>
              <a:spcAft>
                <a:spcPts val="900"/>
              </a:spcAft>
            </a:pPr>
            <a:r>
              <a:rPr sz="1400" b="1"/>
              <a:t>We use the standard approach — scale each cell to the median total, then log1p. It is what you will meet in other people's code.</a:t>
            </a:r>
          </a:p>
          <a:p>
            <a:pPr>
              <a:spcAft>
                <a:spcPts val="900"/>
              </a:spcAft>
            </a:pPr>
            <a:r>
              <a:rPr sz="1400" b="1"/>
              <a:t>No highly-variable-gene step.</a:t>
            </a:r>
            <a:r>
              <a:rPr sz="1400" b="0"/>
              <a:t> In scRNA-seq you pick 2,000 genes out of 20,000 to denoise the distance metric. Here the panel already made that choice; running HVG on top mostly selects the most abundant genes and discards the rare markers the panel was designed around.</a:t>
            </a:r>
          </a:p>
          <a:p>
            <a:pPr>
              <a:spcAft>
                <a:spcPts val="900"/>
              </a:spcAft>
            </a:pPr>
            <a:r>
              <a:rPr sz="1400" b="0"/>
              <a:t>One caveat, and we will see it directly in a moment: median scaling does </a:t>
            </a:r>
            <a:r>
              <a:rPr sz="1400" b="1"/>
              <a:t>not</a:t>
            </a:r>
            <a:r>
              <a:rPr sz="1400" b="0"/>
              <a:t> fully remove sequencing depth, and at a few hundred counts per cell the residue is larger than you are used to.</a:t>
            </a:r>
          </a:p>
          <a:p>
            <a:pPr>
              <a:spcAft>
                <a:spcPts val="900"/>
              </a:spcAft>
            </a:pPr>
            <a:r>
              <a:rPr sz="1400" b="0"/>
              <a:t>Alternatives exist — divide by cell area, Pearson residuals, regress depth out. Each fixes some artefacts and creates others. Appendix B works through them on this dataset.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Normalisation: one choice, stated once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normalisation is actually doing</a:t>
            </a:r>
          </a:p>
        </p:txBody>
      </p:sp>
      <p:pic>
        <p:nvPicPr>
          <p:cNvPr id="3" name="Picture 2" descr="normal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4" y="1783080"/>
            <a:ext cx="11957902" cy="3662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698400" y="2037600"/>
            <a:ext cx="4095476" cy="4351338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300" b="1" dirty="0"/>
              <a:t>PCA</a:t>
            </a:r>
            <a:r>
              <a:rPr sz="1300" b="0" dirty="0"/>
              <a:t> </a:t>
            </a:r>
            <a:r>
              <a:rPr sz="1300" b="0" dirty="0" err="1"/>
              <a:t>compresses</a:t>
            </a:r>
            <a:r>
              <a:rPr sz="1300" b="0" dirty="0"/>
              <a:t> 5,000 gene </a:t>
            </a:r>
            <a:r>
              <a:rPr sz="1300" b="0" dirty="0" err="1"/>
              <a:t>measurements</a:t>
            </a:r>
            <a:r>
              <a:rPr sz="1300" b="0" dirty="0"/>
              <a:t> per </a:t>
            </a:r>
            <a:r>
              <a:rPr sz="1300" b="0" dirty="0" err="1"/>
              <a:t>cell</a:t>
            </a:r>
            <a:r>
              <a:rPr sz="1300" b="0" dirty="0"/>
              <a:t> </a:t>
            </a:r>
            <a:r>
              <a:rPr sz="1300" b="0" dirty="0" err="1"/>
              <a:t>into</a:t>
            </a:r>
            <a:r>
              <a:rPr sz="1300" b="0" dirty="0"/>
              <a:t> ~50 </a:t>
            </a:r>
            <a:r>
              <a:rPr sz="1300" b="0" dirty="0" err="1"/>
              <a:t>numbers</a:t>
            </a:r>
            <a:r>
              <a:rPr sz="1300" b="0" dirty="0"/>
              <a:t>, </a:t>
            </a:r>
            <a:r>
              <a:rPr sz="1300" b="0" dirty="0" err="1"/>
              <a:t>keeping</a:t>
            </a:r>
            <a:r>
              <a:rPr sz="1300" b="0" dirty="0"/>
              <a:t> </a:t>
            </a:r>
            <a:r>
              <a:rPr sz="1300" b="0" dirty="0" err="1"/>
              <a:t>the</a:t>
            </a:r>
            <a:r>
              <a:rPr sz="1300" b="0" dirty="0"/>
              <a:t> </a:t>
            </a:r>
            <a:r>
              <a:rPr sz="1300" b="0" dirty="0" err="1"/>
              <a:t>directions</a:t>
            </a:r>
            <a:r>
              <a:rPr sz="1300" b="0" dirty="0"/>
              <a:t> </a:t>
            </a:r>
            <a:r>
              <a:rPr sz="1300" b="0" dirty="0" err="1"/>
              <a:t>along</a:t>
            </a:r>
            <a:r>
              <a:rPr sz="1300" b="0" dirty="0"/>
              <a:t> </a:t>
            </a:r>
            <a:r>
              <a:rPr sz="1300" b="0" dirty="0" err="1"/>
              <a:t>which</a:t>
            </a:r>
            <a:r>
              <a:rPr sz="1300" b="0" dirty="0"/>
              <a:t> </a:t>
            </a:r>
            <a:r>
              <a:rPr sz="1300" b="0" dirty="0" err="1"/>
              <a:t>cells</a:t>
            </a:r>
            <a:r>
              <a:rPr sz="1300" b="0" dirty="0"/>
              <a:t> </a:t>
            </a:r>
            <a:r>
              <a:rPr sz="1300" b="0" dirty="0" err="1"/>
              <a:t>differ</a:t>
            </a:r>
            <a:r>
              <a:rPr sz="1300" b="0" dirty="0"/>
              <a:t> most.</a:t>
            </a:r>
          </a:p>
          <a:p>
            <a:pPr>
              <a:spcAft>
                <a:spcPts val="700"/>
              </a:spcAft>
              <a:buNone/>
            </a:pPr>
            <a:endParaRPr sz="1300" b="0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The </a:t>
            </a:r>
            <a:r>
              <a:rPr sz="1300" b="1" dirty="0" err="1"/>
              <a:t>neighbour</a:t>
            </a:r>
            <a:r>
              <a:rPr sz="1300" b="1" dirty="0"/>
              <a:t> </a:t>
            </a:r>
            <a:r>
              <a:rPr sz="1300" b="1" dirty="0" err="1"/>
              <a:t>graph</a:t>
            </a:r>
            <a:r>
              <a:rPr sz="1300" b="1" dirty="0"/>
              <a:t> links </a:t>
            </a:r>
            <a:r>
              <a:rPr sz="1300" b="1" dirty="0" err="1"/>
              <a:t>each</a:t>
            </a:r>
            <a:r>
              <a:rPr sz="1300" b="1" dirty="0"/>
              <a:t> </a:t>
            </a:r>
            <a:r>
              <a:rPr sz="1300" b="1" dirty="0" err="1"/>
              <a:t>cell</a:t>
            </a:r>
            <a:r>
              <a:rPr sz="1300" b="1" dirty="0"/>
              <a:t> </a:t>
            </a:r>
            <a:r>
              <a:rPr sz="1300" b="1" dirty="0" err="1"/>
              <a:t>to</a:t>
            </a:r>
            <a:r>
              <a:rPr sz="1300" b="1" dirty="0"/>
              <a:t> </a:t>
            </a:r>
            <a:r>
              <a:rPr sz="1300" b="1" dirty="0" err="1"/>
              <a:t>its</a:t>
            </a:r>
            <a:r>
              <a:rPr sz="1300" b="1" dirty="0"/>
              <a:t> most </a:t>
            </a:r>
            <a:r>
              <a:rPr sz="1300" b="1" dirty="0" err="1"/>
              <a:t>similar</a:t>
            </a:r>
            <a:r>
              <a:rPr sz="1300" b="1" dirty="0"/>
              <a:t> </a:t>
            </a:r>
            <a:r>
              <a:rPr sz="1300" b="1" dirty="0" err="1"/>
              <a:t>cells</a:t>
            </a:r>
            <a:r>
              <a:rPr sz="1300" b="1" dirty="0"/>
              <a:t>. </a:t>
            </a:r>
            <a:r>
              <a:rPr sz="1300" b="1" dirty="0" err="1"/>
              <a:t>This</a:t>
            </a:r>
            <a:r>
              <a:rPr sz="1300" b="1" dirty="0"/>
              <a:t> </a:t>
            </a:r>
            <a:r>
              <a:rPr sz="1300" b="1" dirty="0" err="1"/>
              <a:t>graph</a:t>
            </a:r>
            <a:r>
              <a:rPr sz="1300" b="1" dirty="0"/>
              <a:t> is </a:t>
            </a:r>
            <a:r>
              <a:rPr sz="1300" b="1" dirty="0" err="1"/>
              <a:t>the</a:t>
            </a:r>
            <a:r>
              <a:rPr sz="1300" b="1" dirty="0"/>
              <a:t> real object.</a:t>
            </a:r>
          </a:p>
          <a:p>
            <a:pPr>
              <a:spcAft>
                <a:spcPts val="700"/>
              </a:spcAft>
              <a:buNone/>
            </a:pPr>
            <a:endParaRPr sz="1300" b="1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UMAP</a:t>
            </a:r>
            <a:r>
              <a:rPr sz="1300" b="0" dirty="0"/>
              <a:t> draws </a:t>
            </a:r>
            <a:r>
              <a:rPr sz="1300" b="0" dirty="0" err="1"/>
              <a:t>that</a:t>
            </a:r>
            <a:r>
              <a:rPr sz="1300" b="0" dirty="0"/>
              <a:t> </a:t>
            </a:r>
            <a:r>
              <a:rPr sz="1300" b="0" dirty="0" err="1"/>
              <a:t>graph</a:t>
            </a:r>
            <a:r>
              <a:rPr sz="1300" b="0" dirty="0"/>
              <a:t> on a page. It is a picture; </a:t>
            </a:r>
            <a:r>
              <a:rPr sz="1300" b="0" dirty="0" err="1"/>
              <a:t>nothing</a:t>
            </a:r>
            <a:r>
              <a:rPr sz="1300" b="0" dirty="0"/>
              <a:t> is </a:t>
            </a:r>
            <a:r>
              <a:rPr sz="1300" b="0" dirty="0" err="1"/>
              <a:t>computed</a:t>
            </a:r>
            <a:r>
              <a:rPr sz="1300" b="0" dirty="0"/>
              <a:t> </a:t>
            </a:r>
            <a:r>
              <a:rPr sz="1300" b="0" dirty="0" err="1"/>
              <a:t>from</a:t>
            </a:r>
            <a:r>
              <a:rPr sz="1300" b="0" dirty="0"/>
              <a:t> it.</a:t>
            </a:r>
          </a:p>
          <a:p>
            <a:pPr>
              <a:spcAft>
                <a:spcPts val="700"/>
              </a:spcAft>
              <a:buNone/>
            </a:pPr>
            <a:endParaRPr sz="1300" b="0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Leiden</a:t>
            </a:r>
            <a:r>
              <a:rPr sz="1300" b="0" dirty="0"/>
              <a:t> cuts </a:t>
            </a:r>
            <a:r>
              <a:rPr sz="1300" b="0" dirty="0" err="1"/>
              <a:t>the</a:t>
            </a:r>
            <a:r>
              <a:rPr sz="1300" b="0" dirty="0"/>
              <a:t> </a:t>
            </a:r>
            <a:r>
              <a:rPr sz="1300" b="0" dirty="0" err="1"/>
              <a:t>same</a:t>
            </a:r>
            <a:r>
              <a:rPr sz="1300" b="0" dirty="0"/>
              <a:t> </a:t>
            </a:r>
            <a:r>
              <a:rPr sz="1300" b="0" dirty="0" err="1"/>
              <a:t>graph</a:t>
            </a:r>
            <a:r>
              <a:rPr sz="1300" b="0" dirty="0"/>
              <a:t> </a:t>
            </a:r>
            <a:r>
              <a:rPr sz="1300" b="0" dirty="0" err="1"/>
              <a:t>into</a:t>
            </a:r>
            <a:r>
              <a:rPr sz="1300" b="0" dirty="0"/>
              <a:t> </a:t>
            </a:r>
            <a:r>
              <a:rPr sz="1300" b="0" dirty="0" err="1"/>
              <a:t>communities</a:t>
            </a:r>
            <a:r>
              <a:rPr sz="1300" b="0" dirty="0"/>
              <a:t>.</a:t>
            </a:r>
          </a:p>
          <a:p>
            <a:pPr>
              <a:spcAft>
                <a:spcPts val="700"/>
              </a:spcAft>
              <a:buNone/>
            </a:pPr>
            <a:endParaRPr sz="1300" b="0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UMAP and Leiden are </a:t>
            </a:r>
            <a:r>
              <a:rPr sz="1300" b="1" dirty="0" err="1"/>
              <a:t>siblings</a:t>
            </a:r>
            <a:r>
              <a:rPr sz="1300" b="1" dirty="0"/>
              <a:t>, </a:t>
            </a:r>
            <a:r>
              <a:rPr sz="1300" b="1" dirty="0" err="1"/>
              <a:t>not</a:t>
            </a:r>
            <a:r>
              <a:rPr sz="1300" b="1" dirty="0"/>
              <a:t> a </a:t>
            </a:r>
            <a:r>
              <a:rPr sz="1300" b="1" dirty="0" err="1"/>
              <a:t>sequence</a:t>
            </a:r>
            <a:r>
              <a:rPr sz="1300" b="1" dirty="0"/>
              <a:t> — Leiden never </a:t>
            </a:r>
            <a:r>
              <a:rPr sz="1300" b="1" dirty="0" err="1"/>
              <a:t>sees</a:t>
            </a:r>
            <a:r>
              <a:rPr sz="1300" b="1" dirty="0"/>
              <a:t> </a:t>
            </a:r>
            <a:r>
              <a:rPr sz="1300" b="1" dirty="0" err="1"/>
              <a:t>the</a:t>
            </a:r>
            <a:r>
              <a:rPr sz="1300" b="1" dirty="0"/>
              <a:t> UMAP.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After</a:t>
            </a:r>
            <a:r>
              <a:rPr dirty="0"/>
              <a:t> </a:t>
            </a:r>
            <a:r>
              <a:rPr dirty="0" err="1"/>
              <a:t>that</a:t>
            </a:r>
            <a:r>
              <a:rPr dirty="0"/>
              <a:t>: PCA, UMAP and Leiden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327" y="1417634"/>
            <a:ext cx="6327426" cy="54403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>
          <a:xfrm>
            <a:off x="3007086" y="1532499"/>
            <a:ext cx="8346713" cy="4046537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500" b="0" dirty="0"/>
              <a:t>Each cell is a point in 5,000-dimensional space — one axis per gene. That space is mostly empty, and distances in it are dominated by noise.</a:t>
            </a:r>
          </a:p>
          <a:p>
            <a:pPr>
              <a:spcAft>
                <a:spcPts val="1000"/>
              </a:spcAft>
            </a:pPr>
            <a:endParaRPr sz="1500" b="0" dirty="0"/>
          </a:p>
          <a:p>
            <a:pPr>
              <a:spcAft>
                <a:spcPts val="1000"/>
              </a:spcAft>
            </a:pPr>
            <a:r>
              <a:rPr sz="1500" b="1" dirty="0"/>
              <a:t>PCA finds the directions along which cells differ most, and rewrites every cell as ~50 numbers instead of 5,000.</a:t>
            </a:r>
          </a:p>
          <a:p>
            <a:pPr>
              <a:spcAft>
                <a:spcPts val="1000"/>
              </a:spcAft>
            </a:pPr>
            <a:endParaRPr sz="1500" b="1" dirty="0"/>
          </a:p>
          <a:p>
            <a:pPr>
              <a:spcAft>
                <a:spcPts val="1000"/>
              </a:spcAft>
            </a:pPr>
            <a:r>
              <a:rPr sz="1500" b="0" dirty="0"/>
              <a:t>Each component is a </a:t>
            </a:r>
            <a:r>
              <a:rPr sz="1500" b="1" dirty="0"/>
              <a:t>weighted combination of genes</a:t>
            </a:r>
            <a:r>
              <a:rPr sz="1500" b="0" dirty="0"/>
              <a:t>. PC1 might be "epithelial genes up, stromal genes down" — one axis carrying a real biological contrast.</a:t>
            </a:r>
          </a:p>
          <a:p>
            <a:pPr>
              <a:spcAft>
                <a:spcPts val="1000"/>
              </a:spcAft>
            </a:pPr>
            <a:endParaRPr sz="1500" b="0" dirty="0"/>
          </a:p>
          <a:p>
            <a:pPr>
              <a:spcAft>
                <a:spcPts val="1000"/>
              </a:spcAft>
            </a:pPr>
            <a:r>
              <a:rPr sz="1500" b="1" dirty="0" err="1"/>
              <a:t>adata.varm</a:t>
            </a:r>
            <a:r>
              <a:rPr sz="1500" b="1" dirty="0"/>
              <a:t>["PCs"]</a:t>
            </a:r>
            <a:r>
              <a:rPr sz="1500" b="0" dirty="0"/>
              <a:t> holds those weights, so you can ask what any component is made of. Do that before you trust one.</a:t>
            </a:r>
          </a:p>
          <a:p>
            <a:pPr>
              <a:spcAft>
                <a:spcPts val="1000"/>
              </a:spcAft>
            </a:pPr>
            <a:endParaRPr sz="1500" b="0" dirty="0"/>
          </a:p>
          <a:p>
            <a:pPr>
              <a:spcAft>
                <a:spcPts val="1000"/>
              </a:spcAft>
            </a:pPr>
            <a:r>
              <a:rPr sz="1500" b="1" dirty="0"/>
              <a:t>Everything downstream — the </a:t>
            </a:r>
            <a:r>
              <a:rPr sz="1500" b="1" dirty="0" err="1"/>
              <a:t>neighbour</a:t>
            </a:r>
            <a:r>
              <a:rPr sz="1500" b="1" dirty="0"/>
              <a:t> graph, UMAP, Leiden — sees only these 50 numbers. If depth is in there, it is in all of them.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PCA is actually doing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/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 dirty="0"/>
              <a:t>The scree-plot elbow is much less informative for a targeted panel. Somebody already selected 5,000 informative genes, so variance is spread more evenly and there is often no clean elbow to find.</a:t>
            </a:r>
          </a:p>
          <a:p>
            <a:pPr>
              <a:spcAft>
                <a:spcPts val="800"/>
              </a:spcAft>
            </a:pPr>
            <a:r>
              <a:rPr sz="1400" b="1" dirty="0"/>
              <a:t>Practical starting points: 30–50 PCs for a 5K panel, 10–20 for a 300-gene panel. Scale with panel size, not cell number.</a:t>
            </a:r>
          </a:p>
          <a:p>
            <a:pPr>
              <a:spcAft>
                <a:spcPts val="800"/>
              </a:spcAft>
            </a:pPr>
            <a:r>
              <a:rPr sz="1400" b="0" dirty="0"/>
              <a:t>Better than the elbow: </a:t>
            </a:r>
            <a:r>
              <a:rPr sz="1400" b="1" dirty="0"/>
              <a:t>correlate each PC with </a:t>
            </a:r>
            <a:r>
              <a:rPr sz="1400" b="1" dirty="0" err="1"/>
              <a:t>total_counts</a:t>
            </a:r>
            <a:r>
              <a:rPr sz="1400" b="1" dirty="0"/>
              <a:t> and </a:t>
            </a:r>
            <a:r>
              <a:rPr sz="1400" b="1" dirty="0" err="1"/>
              <a:t>cell_area</a:t>
            </a:r>
            <a:r>
              <a:rPr sz="1400" b="0" dirty="0"/>
              <a:t>. A PC that is essentially depth means the </a:t>
            </a:r>
            <a:r>
              <a:rPr sz="1400" b="0" dirty="0" err="1"/>
              <a:t>normalisation</a:t>
            </a:r>
            <a:r>
              <a:rPr sz="1400" b="0" dirty="0"/>
              <a:t> is not done — and the notebook has a section that fixes it.</a:t>
            </a:r>
          </a:p>
          <a:p>
            <a:pPr>
              <a:spcAft>
                <a:spcPts val="800"/>
              </a:spcAft>
            </a:pPr>
            <a:r>
              <a:rPr sz="1400" b="0" dirty="0"/>
              <a:t>Too few → rare cell types collapse into their nearest </a:t>
            </a:r>
            <a:r>
              <a:rPr sz="1400" b="0" dirty="0" err="1"/>
              <a:t>neighbour</a:t>
            </a:r>
            <a:endParaRPr sz="1400" b="0" dirty="0"/>
          </a:p>
          <a:p>
            <a:pPr>
              <a:spcAft>
                <a:spcPts val="800"/>
              </a:spcAft>
            </a:pPr>
            <a:r>
              <a:rPr sz="1400" b="0" dirty="0"/>
              <a:t>Too many → you add noise, but Leiden tolerates it. Erring high is the safer error.</a:t>
            </a:r>
          </a:p>
          <a:p>
            <a:pPr>
              <a:spcAft>
                <a:spcPts val="800"/>
              </a:spcAft>
            </a:pPr>
            <a:endParaRPr sz="1400" b="0" dirty="0"/>
          </a:p>
          <a:p>
            <a:pPr>
              <a:spcAft>
                <a:spcPts val="800"/>
              </a:spcAft>
            </a:pPr>
            <a:r>
              <a:rPr sz="1400" b="0" u="sng" dirty="0"/>
              <a:t>Test it: re-run with 20 and with 50, and see whether your smallest cluster survives. That is more informative than any plot of eigenvalues. At some point it will stab</a:t>
            </a:r>
            <a:r>
              <a:rPr lang="en-US" sz="1400" b="0" u="sng" dirty="0"/>
              <a:t>i</a:t>
            </a:r>
            <a:r>
              <a:rPr sz="1400" b="0" u="sng" dirty="0"/>
              <a:t>lize, and that is what you pick.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many principal components?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1"/>
              <a:t>n_neighbors</a:t>
            </a:r>
            <a:r>
              <a:rPr sz="1400" b="0"/>
              <a:t> builds the expression graph. Small (5–10) → fine structure, more clusters, noisier. Large (30–50) → smoother, fewer, more robust. 15 is a reasonable default from ~10,000 cells upward.</a:t>
            </a:r>
          </a:p>
          <a:p>
            <a:pPr>
              <a:spcAft>
                <a:spcPts val="800"/>
              </a:spcAft>
            </a:pPr>
            <a:r>
              <a:rPr sz="1400" b="1"/>
              <a:t>resolution</a:t>
            </a:r>
            <a:r>
              <a:rPr sz="1400" b="0"/>
              <a:t> decides how finely Leiden cuts that graph. It is not a number of clusters: doubling it does not double them.</a:t>
            </a:r>
          </a:p>
          <a:p>
            <a:pPr>
              <a:spcAft>
                <a:spcPts val="800"/>
              </a:spcAft>
            </a:pPr>
            <a:r>
              <a:rPr sz="1400" b="1"/>
              <a:t>Sweep resolution 0.3 → 2.0 and pick by two criteria: can you annotate every cluster with markers, and does it survive a change of random seed?</a:t>
            </a:r>
          </a:p>
          <a:p>
            <a:pPr>
              <a:spcAft>
                <a:spcPts val="800"/>
              </a:spcAft>
            </a:pPr>
            <a:r>
              <a:rPr sz="1400" b="1"/>
              <a:t>Careful — two different graphs in this workshop:</a:t>
            </a:r>
          </a:p>
          <a:p>
            <a:pPr lvl="1">
              <a:spcAft>
                <a:spcPts val="800"/>
              </a:spcAft>
            </a:pPr>
            <a:r>
              <a:rPr sz="1400" b="1"/>
              <a:t>sc.pp.neighbors</a:t>
            </a:r>
            <a:r>
              <a:rPr sz="1400" b="0"/>
              <a:t> → who is similar in </a:t>
            </a:r>
            <a:r>
              <a:rPr sz="1400" b="1"/>
              <a:t>expression</a:t>
            </a:r>
          </a:p>
          <a:p>
            <a:pPr lvl="1">
              <a:spcAft>
                <a:spcPts val="800"/>
              </a:spcAft>
            </a:pPr>
            <a:r>
              <a:rPr sz="1400" b="1"/>
              <a:t>sq.gr.spatial_neighbors</a:t>
            </a:r>
            <a:r>
              <a:rPr sz="1400" b="0"/>
              <a:t> → who is nearby in </a:t>
            </a:r>
            <a:r>
              <a:rPr sz="1400" b="1"/>
              <a:t>tissue</a:t>
            </a:r>
          </a:p>
          <a:p>
            <a:pPr>
              <a:spcAft>
                <a:spcPts val="800"/>
              </a:spcAft>
            </a:pPr>
            <a:r>
              <a:rPr sz="1400" b="0"/>
              <a:t>They are unrelated, both called "neighbours", and mixing them up is the commonest confusion of day 2.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n_neighbors and resolution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500" b="1"/>
              <a:t>n_neighbors</a:t>
            </a:r>
            <a:r>
              <a:rPr sz="1500" b="0"/>
              <a:t> — how far UMAP looks when deciding who is near whom. Small (5–10) preserves fine local structure and fragments the picture; large (30–50) preserves the global shape and smooths detail away.</a:t>
            </a:r>
          </a:p>
          <a:p>
            <a:pPr>
              <a:spcAft>
                <a:spcPts val="1000"/>
              </a:spcAft>
            </a:pPr>
            <a:r>
              <a:rPr sz="1500" b="1"/>
              <a:t>min_dist</a:t>
            </a:r>
            <a:r>
              <a:rPr sz="1500" b="0"/>
              <a:t> — how tightly points may pack. Small (0.05) gives dense, well-separated clumps; large (0.8) spreads everything out.</a:t>
            </a:r>
          </a:p>
          <a:p>
            <a:pPr>
              <a:spcAft>
                <a:spcPts val="1000"/>
              </a:spcAft>
            </a:pPr>
            <a:r>
              <a:rPr sz="1500" b="1"/>
              <a:t>spread</a:t>
            </a:r>
            <a:r>
              <a:rPr sz="1500" b="0"/>
              <a:t> — the overall scale the layout is drawn at.</a:t>
            </a:r>
          </a:p>
          <a:p>
            <a:pPr>
              <a:spcAft>
                <a:spcPts val="1000"/>
              </a:spcAft>
            </a:pPr>
            <a:r>
              <a:rPr sz="1500" b="1"/>
              <a:t>Only the first also affects the clustering, because Leiden reads the same graph. min_dist and spread change the picture and nothing else.</a:t>
            </a:r>
          </a:p>
          <a:p>
            <a:pPr>
              <a:spcAft>
                <a:spcPts val="1000"/>
              </a:spcAft>
            </a:pPr>
            <a:r>
              <a:rPr sz="1500" b="0"/>
              <a:t>So if a figure changes when you tune min_dist, nothing about your data changed. Notebook 03 has you verify exactly that: the cluster count does not move.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Cheating</a:t>
            </a:r>
            <a:r>
              <a:rPr dirty="0"/>
              <a:t> </a:t>
            </a:r>
            <a:r>
              <a:rPr dirty="0" err="1"/>
              <a:t>with</a:t>
            </a:r>
            <a:r>
              <a:rPr dirty="0"/>
              <a:t> </a:t>
            </a:r>
            <a:r>
              <a:rPr dirty="0" err="1"/>
              <a:t>your</a:t>
            </a:r>
            <a:r>
              <a:rPr dirty="0"/>
              <a:t> UMAP: </a:t>
            </a:r>
            <a:r>
              <a:rPr dirty="0" err="1"/>
              <a:t>the</a:t>
            </a:r>
            <a:r>
              <a:rPr dirty="0"/>
              <a:t> </a:t>
            </a:r>
            <a:r>
              <a:rPr dirty="0" err="1"/>
              <a:t>three</a:t>
            </a:r>
            <a:r>
              <a:rPr dirty="0"/>
              <a:t> </a:t>
            </a:r>
            <a:r>
              <a:rPr dirty="0" err="1"/>
              <a:t>dials</a:t>
            </a:r>
            <a:endParaRPr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698400" y="1795553"/>
            <a:ext cx="5284800" cy="4351338"/>
          </a:xfrm>
        </p:spPr>
        <p:txBody>
          <a:bodyPr wrap="square"/>
          <a:lstStyle/>
          <a:p>
            <a:pPr>
              <a:spcAft>
                <a:spcPts val="700"/>
              </a:spcAft>
              <a:buNone/>
            </a:pPr>
            <a:r>
              <a:rPr sz="1300" b="1" dirty="0" err="1"/>
              <a:t>Distance</a:t>
            </a:r>
            <a:r>
              <a:rPr sz="1300" b="1" dirty="0"/>
              <a:t> </a:t>
            </a:r>
            <a:r>
              <a:rPr sz="1300" b="1" dirty="0" err="1"/>
              <a:t>between</a:t>
            </a:r>
            <a:r>
              <a:rPr sz="1300" b="1" dirty="0"/>
              <a:t> </a:t>
            </a:r>
            <a:r>
              <a:rPr sz="1300" b="1" dirty="0" err="1"/>
              <a:t>blobs</a:t>
            </a:r>
            <a:r>
              <a:rPr sz="1300" b="1" dirty="0"/>
              <a:t> is </a:t>
            </a:r>
            <a:r>
              <a:rPr sz="1300" b="1" dirty="0" err="1"/>
              <a:t>meaningless</a:t>
            </a:r>
            <a:r>
              <a:rPr sz="1300" b="1" dirty="0"/>
              <a:t>.</a:t>
            </a:r>
            <a:r>
              <a:rPr sz="1300" b="0" dirty="0"/>
              <a:t> Far apart is </a:t>
            </a:r>
            <a:r>
              <a:rPr sz="1300" b="0" dirty="0" err="1"/>
              <a:t>not</a:t>
            </a:r>
            <a:r>
              <a:rPr sz="1300" b="0" dirty="0"/>
              <a:t> more different.</a:t>
            </a:r>
          </a:p>
          <a:p>
            <a:pPr>
              <a:spcAft>
                <a:spcPts val="700"/>
              </a:spcAft>
              <a:buNone/>
            </a:pPr>
            <a:endParaRPr sz="1300" b="0" dirty="0"/>
          </a:p>
          <a:p>
            <a:pPr>
              <a:spcAft>
                <a:spcPts val="700"/>
              </a:spcAft>
              <a:buNone/>
            </a:pPr>
            <a:r>
              <a:rPr sz="1300" b="1" dirty="0" err="1"/>
              <a:t>Blob</a:t>
            </a:r>
            <a:r>
              <a:rPr sz="1300" b="1" dirty="0"/>
              <a:t> </a:t>
            </a:r>
            <a:r>
              <a:rPr sz="1300" b="1" dirty="0" err="1"/>
              <a:t>size</a:t>
            </a:r>
            <a:r>
              <a:rPr sz="1300" b="1" dirty="0"/>
              <a:t> and </a:t>
            </a:r>
            <a:r>
              <a:rPr sz="1300" b="1" dirty="0" err="1"/>
              <a:t>shape</a:t>
            </a:r>
            <a:r>
              <a:rPr sz="1300" b="1" dirty="0"/>
              <a:t> are </a:t>
            </a:r>
            <a:r>
              <a:rPr sz="1300" b="1" dirty="0" err="1"/>
              <a:t>meaningless</a:t>
            </a:r>
            <a:r>
              <a:rPr sz="1300" b="1" dirty="0"/>
              <a:t>.</a:t>
            </a:r>
          </a:p>
          <a:p>
            <a:pPr>
              <a:spcAft>
                <a:spcPts val="700"/>
              </a:spcAft>
              <a:buNone/>
            </a:pPr>
            <a:endParaRPr sz="1300" b="1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The </a:t>
            </a:r>
            <a:r>
              <a:rPr sz="1300" b="1" dirty="0" err="1"/>
              <a:t>axes</a:t>
            </a:r>
            <a:r>
              <a:rPr sz="1300" b="1" dirty="0"/>
              <a:t> have no units.</a:t>
            </a:r>
            <a:r>
              <a:rPr sz="1300" b="0" dirty="0"/>
              <a:t> </a:t>
            </a:r>
            <a:r>
              <a:rPr sz="1300" b="0" dirty="0" err="1"/>
              <a:t>There</a:t>
            </a:r>
            <a:r>
              <a:rPr sz="1300" b="0" dirty="0"/>
              <a:t> is no "UMAP1 is </a:t>
            </a:r>
            <a:r>
              <a:rPr sz="1300" b="0" dirty="0" err="1"/>
              <a:t>differentiation</a:t>
            </a:r>
            <a:r>
              <a:rPr sz="1300" b="0" dirty="0"/>
              <a:t>".</a:t>
            </a:r>
          </a:p>
          <a:p>
            <a:pPr>
              <a:spcAft>
                <a:spcPts val="700"/>
              </a:spcAft>
              <a:buNone/>
            </a:pPr>
            <a:endParaRPr sz="1300" b="0" dirty="0"/>
          </a:p>
          <a:p>
            <a:pPr>
              <a:spcAft>
                <a:spcPts val="700"/>
              </a:spcAft>
              <a:buNone/>
            </a:pPr>
            <a:r>
              <a:rPr sz="1300" b="1" dirty="0"/>
              <a:t>It changes </a:t>
            </a:r>
            <a:r>
              <a:rPr sz="1300" b="1" dirty="0" err="1"/>
              <a:t>between</a:t>
            </a:r>
            <a:r>
              <a:rPr sz="1300" b="1" dirty="0"/>
              <a:t> runs and </a:t>
            </a:r>
            <a:r>
              <a:rPr sz="1300" b="1" dirty="0" err="1"/>
              <a:t>with</a:t>
            </a:r>
            <a:r>
              <a:rPr sz="1300" b="1" dirty="0"/>
              <a:t> parameters.</a:t>
            </a:r>
          </a:p>
          <a:p>
            <a:pPr>
              <a:spcAft>
                <a:spcPts val="700"/>
              </a:spcAft>
              <a:buNone/>
            </a:pPr>
            <a:endParaRPr sz="1300" b="1" dirty="0"/>
          </a:p>
          <a:p>
            <a:pPr>
              <a:spcAft>
                <a:spcPts val="700"/>
              </a:spcAft>
              <a:buNone/>
            </a:pPr>
            <a:r>
              <a:rPr sz="1300" b="1" u="sng" dirty="0"/>
              <a:t>Never cluster on UMAP </a:t>
            </a:r>
            <a:r>
              <a:rPr sz="1300" b="1" u="sng" dirty="0" err="1"/>
              <a:t>coordinates</a:t>
            </a:r>
            <a:r>
              <a:rPr sz="1300" b="1" u="sng" dirty="0"/>
              <a:t>.</a:t>
            </a:r>
          </a:p>
          <a:p>
            <a:pPr>
              <a:spcAft>
                <a:spcPts val="700"/>
              </a:spcAft>
              <a:buNone/>
            </a:pPr>
            <a:endParaRPr sz="1300" b="1" u="sng" dirty="0"/>
          </a:p>
          <a:p>
            <a:pPr>
              <a:spcAft>
                <a:spcPts val="700"/>
              </a:spcAft>
              <a:buNone/>
            </a:pPr>
            <a:r>
              <a:rPr sz="1300" b="0" dirty="0" err="1"/>
              <a:t>Good</a:t>
            </a:r>
            <a:r>
              <a:rPr sz="1300" b="0" dirty="0"/>
              <a:t> </a:t>
            </a:r>
            <a:r>
              <a:rPr sz="1300" b="0" dirty="0" err="1"/>
              <a:t>for</a:t>
            </a:r>
            <a:r>
              <a:rPr sz="1300" b="0" dirty="0"/>
              <a:t>: spotting a split, a batch effect, a </a:t>
            </a:r>
            <a:r>
              <a:rPr sz="1300" b="0" dirty="0" err="1"/>
              <a:t>gradient</a:t>
            </a:r>
            <a:r>
              <a:rPr sz="1300" b="0" dirty="0"/>
              <a:t>, or QC </a:t>
            </a:r>
            <a:r>
              <a:rPr sz="1300" b="0" dirty="0" err="1"/>
              <a:t>metrics</a:t>
            </a:r>
            <a:r>
              <a:rPr sz="1300" b="0" dirty="0"/>
              <a:t> tracking </a:t>
            </a:r>
            <a:r>
              <a:rPr sz="1300" b="0" dirty="0" err="1"/>
              <a:t>your</a:t>
            </a:r>
            <a:r>
              <a:rPr sz="1300" b="0" dirty="0"/>
              <a:t> clusters.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UMAP will not tell you</a:t>
            </a:r>
          </a:p>
        </p:txBody>
      </p:sp>
      <p:pic>
        <p:nvPicPr>
          <p:cNvPr id="5" name="Picture 4" descr="umap_cave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42" y="2037600"/>
            <a:ext cx="505211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 can make a UMAP say almost anything</a:t>
            </a:r>
          </a:p>
        </p:txBody>
      </p:sp>
      <p:pic>
        <p:nvPicPr>
          <p:cNvPr id="3" name="Picture 2" descr="umap_parame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11369040" cy="39717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/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400" b="0"/>
              <a:t>Colour the UMAP by </a:t>
            </a:r>
            <a:r>
              <a:rPr sz="1400" b="1"/>
              <a:t>total_counts</a:t>
            </a:r>
            <a:r>
              <a:rPr sz="1400" b="0"/>
              <a:t> and </a:t>
            </a:r>
            <a:r>
              <a:rPr sz="1400" b="1"/>
              <a:t>cell_area</a:t>
            </a:r>
            <a:r>
              <a:rPr sz="1400" b="0"/>
              <a:t> before you colour it by cluster. If a cluster lights up on those alone, it is technical.</a:t>
            </a:r>
          </a:p>
          <a:p>
            <a:pPr>
              <a:spcAft>
                <a:spcPts val="800"/>
              </a:spcAft>
            </a:pPr>
            <a:r>
              <a:rPr sz="1400" b="0"/>
              <a:t>Why it bites harder here than in scRNA-seq: counts per cell span a few hundred, not tens of thousands, so depth is a </a:t>
            </a:r>
            <a:r>
              <a:rPr sz="1400" b="1"/>
              <a:t>large fraction</a:t>
            </a:r>
            <a:r>
              <a:rPr sz="1400" b="0"/>
              <a:t> of the total variance rather than a nuisance you can regress away.</a:t>
            </a:r>
          </a:p>
          <a:p>
            <a:pPr>
              <a:spcAft>
                <a:spcPts val="800"/>
              </a:spcAft>
            </a:pPr>
            <a:r>
              <a:rPr sz="1400" b="0"/>
              <a:t>And </a:t>
            </a:r>
            <a:r>
              <a:rPr sz="1400" b="1"/>
              <a:t>cell_area</a:t>
            </a:r>
            <a:r>
              <a:rPr sz="1400" b="0"/>
              <a:t> is a segmentation output, not a measurement of the cell. A cluster of large cells may be a cluster of bad polygons.</a:t>
            </a:r>
          </a:p>
          <a:p>
            <a:pPr>
              <a:spcAft>
                <a:spcPts val="800"/>
              </a:spcAft>
            </a:pPr>
            <a:r>
              <a:rPr sz="1400" b="1"/>
              <a:t>Four checks, in order of how quickly they settle it:</a:t>
            </a:r>
          </a:p>
          <a:p>
            <a:pPr lvl="1">
              <a:spcAft>
                <a:spcPts val="800"/>
              </a:spcAft>
            </a:pPr>
            <a:r>
              <a:rPr sz="1400" b="0"/>
              <a:t>1.  Is the cluster at an extreme of counts or area? → suspicious</a:t>
            </a:r>
          </a:p>
          <a:p>
            <a:pPr lvl="1">
              <a:spcAft>
                <a:spcPts val="800"/>
              </a:spcAft>
            </a:pPr>
            <a:r>
              <a:rPr sz="1400" b="0"/>
              <a:t>2.  Are its markers a coherent lineage, or a grab-bag? → grab-bag is bad</a:t>
            </a:r>
          </a:p>
          <a:p>
            <a:pPr lvl="1">
              <a:spcAft>
                <a:spcPts val="800"/>
              </a:spcAft>
            </a:pPr>
            <a:r>
              <a:rPr sz="1400" b="0"/>
              <a:t>3.  Where is it in the tissue? Scattered → artefact. A structure → real.</a:t>
            </a:r>
          </a:p>
          <a:p>
            <a:pPr lvl="1">
              <a:spcAft>
                <a:spcPts val="800"/>
              </a:spcAft>
            </a:pPr>
            <a:r>
              <a:rPr sz="1400" b="0"/>
              <a:t>4.  Does it survive area-normalisation? If it vanishes, it was size.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type, or size artefact?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order, and what to re-check at each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buNone/>
            </a:pPr>
            <a:r>
              <a:rPr sz="1400" b="0"/>
              <a:t>1.  </a:t>
            </a:r>
            <a:r>
              <a:rPr sz="1400" b="1"/>
              <a:t>QC filter</a:t>
            </a:r>
            <a:r>
              <a:rPr sz="1400" b="0"/>
              <a:t> — then plot what you removed, in space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2.  </a:t>
            </a:r>
            <a:r>
              <a:rPr sz="1400" b="1"/>
              <a:t>Normalise + log1p</a:t>
            </a:r>
            <a:r>
              <a:rPr sz="1400" b="0"/>
              <a:t> — no HVG step; the panel already chose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3.  </a:t>
            </a:r>
            <a:r>
              <a:rPr sz="1400" b="1"/>
              <a:t>Scale</a:t>
            </a:r>
            <a:r>
              <a:rPr sz="1400" b="0"/>
              <a:t> — for PCA only; put log values back before markers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4.  </a:t>
            </a:r>
            <a:r>
              <a:rPr sz="1400" b="1"/>
              <a:t>PCA</a:t>
            </a:r>
            <a:r>
              <a:rPr sz="1400" b="0"/>
              <a:t> — then correlate the first PCs with total_counts and cell_area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5.  </a:t>
            </a:r>
            <a:r>
              <a:rPr sz="1400" b="1"/>
              <a:t>Neighbours</a:t>
            </a:r>
            <a:r>
              <a:rPr sz="1400" b="0"/>
              <a:t> (n_neighbors, n_pcs) — the expression graph</a:t>
            </a:r>
          </a:p>
          <a:p>
            <a:pPr>
              <a:spcAft>
                <a:spcPts val="800"/>
              </a:spcAft>
              <a:buNone/>
            </a:pPr>
            <a:r>
              <a:rPr sz="1400" b="1"/>
              <a:t>6.  UMAP — for looking at, never for clustering on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7.  </a:t>
            </a:r>
            <a:r>
              <a:rPr sz="1400" b="1"/>
              <a:t>Leiden</a:t>
            </a:r>
            <a:r>
              <a:rPr sz="1400" b="0"/>
              <a:t> (resolution) — then check stability across seeds</a:t>
            </a:r>
          </a:p>
          <a:p>
            <a:pPr>
              <a:spcAft>
                <a:spcPts val="800"/>
              </a:spcAft>
              <a:buNone/>
            </a:pPr>
            <a:r>
              <a:rPr sz="1400" b="0"/>
              <a:t>8.  </a:t>
            </a:r>
            <a:r>
              <a:rPr sz="1400" b="1"/>
              <a:t>Markers</a:t>
            </a:r>
            <a:r>
              <a:rPr sz="1400" b="0"/>
              <a:t> — coherent lineage, or a grab-bag?</a:t>
            </a:r>
          </a:p>
          <a:p>
            <a:pPr>
              <a:spcAft>
                <a:spcPts val="800"/>
              </a:spcAft>
              <a:buNone/>
            </a:pPr>
            <a:r>
              <a:rPr sz="1400" b="1"/>
              <a:t>9.  Plot the clusters on the tissue — the only external check you have</a:t>
            </a:r>
          </a:p>
          <a:p>
            <a:pPr>
              <a:spcAft>
                <a:spcPts val="800"/>
              </a:spcAft>
              <a:buNone/>
            </a:pPr>
            <a:r>
              <a:rPr sz="1400" b="1"/>
              <a:t>Every step inherits the ones above it. Change anything and re-run from that point down — including the checks.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2830415" y="4141700"/>
            <a:ext cx="6712642" cy="577081"/>
          </a:xfrm>
        </p:spPr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dia's | 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0DE10A4B-82F4-4076-A806-01A05AF0CC1E}"/>
    </a:ext>
  </a:extLst>
</a:theme>
</file>

<file path=ppt/theme/theme2.xml><?xml version="1.0" encoding="utf-8"?>
<a:theme xmlns:a="http://schemas.openxmlformats.org/drawingml/2006/main" name="Inhouddia's |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707.potx" id="{E34996F4-082F-4D3B-B1DA-65221089906A}" vid="{4745102E-F7BE-4C89-A0DC-80C5976D533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E77E9BB20574C88F1A51905EBD0AF" ma:contentTypeVersion="4" ma:contentTypeDescription="Create a new document." ma:contentTypeScope="" ma:versionID="455c74ca665ac03d7ee707fc48cc1da4">
  <xsd:schema xmlns:xsd="http://www.w3.org/2001/XMLSchema" xmlns:xs="http://www.w3.org/2001/XMLSchema" xmlns:p="http://schemas.microsoft.com/office/2006/metadata/properties" xmlns:ns2="01a1795b-c314-4f6e-9e61-ae7877c66689" targetNamespace="http://schemas.microsoft.com/office/2006/metadata/properties" ma:root="true" ma:fieldsID="7f1125c12b2a4d355fdeb8f38e5be982" ns2:_="">
    <xsd:import namespace="01a1795b-c314-4f6e-9e61-ae7877c666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1795b-c314-4f6e-9e61-ae7877c666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C19E0A-4185-408F-B909-D5C369F93D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F798CA-DD6B-4E33-A309-EB3438BB22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a1795b-c314-4f6e-9e61-ae7877c666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9AE33E-0A9E-4BD8-990C-786E2BB7161F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4137</Words>
  <Application>Microsoft Office PowerPoint</Application>
  <PresentationFormat>Widescreen</PresentationFormat>
  <Paragraphs>261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Lucida Sans Typewriter</vt:lpstr>
      <vt:lpstr>Merriweather</vt:lpstr>
      <vt:lpstr>Vestula</vt:lpstr>
      <vt:lpstr>Vestula Pro</vt:lpstr>
      <vt:lpstr>Titeldia's | Title slides</vt:lpstr>
      <vt:lpstr>Inhouddia's | Content slides</vt:lpstr>
      <vt:lpstr>Spatial transcriptomics</vt:lpstr>
      <vt:lpstr>What will you learn in two mornings</vt:lpstr>
      <vt:lpstr>What is the Xenium dataset?</vt:lpstr>
      <vt:lpstr>The count matrix is a derived product</vt:lpstr>
      <vt:lpstr>How Xenium measures a transcript</vt:lpstr>
      <vt:lpstr>Our dataset</vt:lpstr>
      <vt:lpstr>What is in the box? You will explore!</vt:lpstr>
      <vt:lpstr>The whole workflow, on one slide</vt:lpstr>
      <vt:lpstr>QC 1 — the controls measure your background</vt:lpstr>
      <vt:lpstr>QC 2 — segmentation failure has a shape</vt:lpstr>
      <vt:lpstr>QC 3 — the step everyone skips</vt:lpstr>
      <vt:lpstr>Normalisation: one choice, stated once</vt:lpstr>
      <vt:lpstr>What normalisation is actually doing</vt:lpstr>
      <vt:lpstr>After that: PCA, UMAP and Leiden</vt:lpstr>
      <vt:lpstr>What PCA is actually doing</vt:lpstr>
      <vt:lpstr>How many principal components?</vt:lpstr>
      <vt:lpstr>n_neighbors and resolution</vt:lpstr>
      <vt:lpstr>Cheating with your UMAP: the three dials</vt:lpstr>
      <vt:lpstr>What a UMAP will not tell you</vt:lpstr>
      <vt:lpstr>You can make a UMAP say almost anything</vt:lpstr>
      <vt:lpstr>Cell type, or size artefact?</vt:lpstr>
      <vt:lpstr>The order, and what to re-check at each step</vt:lpstr>
      <vt:lpstr>Thank you</vt:lpstr>
    </vt:vector>
  </TitlesOfParts>
  <Company>Universiteit Leiden - ISSC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Scheen, D.A.C. (Daniël)</dc:creator>
  <cp:lastModifiedBy>Postma, Rudmer (ANA - LUMC)</cp:lastModifiedBy>
  <cp:revision>26</cp:revision>
  <dcterms:created xsi:type="dcterms:W3CDTF">2026-04-02T12:11:54Z</dcterms:created>
  <dcterms:modified xsi:type="dcterms:W3CDTF">2026-09-06T10:53:45Z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0x010100798E77E9BB20574C88F1A51905EBD0AF</vt:lpwstr>
  </property>
</Properties>
</file>