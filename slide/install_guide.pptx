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  <p:sldMasterId id="2147483811" r:id="rId5"/>
  </p:sldMasterIdLst>
  <p:notesMasterIdLst>
    <p:notesMasterId r:id="rId16"/>
  </p:notesMasterIdLst>
  <p:handoutMasterIdLst>
    <p:handoutMasterId r:id="rId17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 | Instructions" id="{57C8B40F-F360-4326-8328-CF1BBE9539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58"/>
    <a:srgbClr val="EAEAEA"/>
    <a:srgbClr val="F9F9F9"/>
    <a:srgbClr val="FFFFFF"/>
    <a:srgbClr val="EEF7E9"/>
    <a:srgbClr val="333333"/>
    <a:srgbClr val="C9D2EB"/>
    <a:srgbClr val="E7E6E6"/>
    <a:srgbClr val="BCD2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31" autoAdjust="0"/>
  </p:normalViewPr>
  <p:slideViewPr>
    <p:cSldViewPr snapToGrid="0">
      <p:cViewPr varScale="1">
        <p:scale>
          <a:sx n="120" d="100"/>
          <a:sy n="120" d="100"/>
        </p:scale>
        <p:origin x="234" y="90"/>
      </p:cViewPr>
      <p:guideLst>
        <p:guide orient="horz" pos="2183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01-09-2026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1-9-2026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Send this out at least two weeks before the workshop, with a deadline for reporting problems.</a:t>
            </a:r>
          </a:p>
          <a:p>
            <a:endParaRPr/>
          </a:p>
          <a:p>
            <a:r>
              <a:t>The single most important message: do this BEFORE day 1. There is no time to install software on the morning, and conda solves are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Twenty minutes of wall-clock time, of which maybe three are typing.</a:t>
            </a:r>
          </a:p>
          <a:p>
            <a:endParaRPr/>
          </a:p>
          <a:p>
            <a:r>
              <a:t>Stress the 'days ahead' point: if something fails, they need time to ask for help, and share permissions in particular can take a day or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P: drive point is the one that catches people. Getting share access is the only step with an external dependency and a multi-day lead time.</a:t>
            </a:r>
          </a:p>
          <a:p>
            <a:endParaRPr/>
          </a:p>
          <a:p>
            <a:r>
              <a:t>The last bullet matters for recruitment: a third of the room will have never used Python and should not self-select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Miniforge is the same conda, defaulting to the conda-forge channel, with no licensing question. It is also a much smaller download than Anaconda.</a:t>
            </a:r>
          </a:p>
          <a:p>
            <a:endParaRPr/>
          </a:p>
          <a:p>
            <a:r>
              <a:t>If your department already has an Anaconda site licence, say so here and drop the last bullet - it only muddies things.</a:t>
            </a:r>
          </a:p>
          <a:p>
            <a:endParaRPr/>
          </a:p>
          <a:p>
            <a:r>
              <a:t>The Windows 'use the Miniforge Prompt' instruction prevents a whole class of 'conda is not recognised' emails.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OneDrive warning is worth keeping. Many LUMC laptops sync Documents by default, and a 2 GB data folder inside it will both crawl and occasionally lock files mid-write.</a:t>
            </a:r>
          </a:p>
          <a:p>
            <a:endParaRPr/>
          </a:p>
          <a:p>
            <a:r>
              <a:t>Suggest something like C:\Users\&lt;you&gt;\spatialtx-workshop.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ipykernel line is the step people skip, and its symptom appears much later: the spatialtx kernel is missing from the Jupyter menu, and everything fails with import errors because they are in the base environment.</a:t>
            </a:r>
          </a:p>
          <a:p>
            <a:endParaRPr/>
          </a:p>
          <a:p>
            <a:r>
              <a:t>Warn them the solve prints pages of output and can appear to hang at 'Solving environment'. That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1-2 GB. Ask them to do this at home or off-peak: twenty-five simultaneous copies from one share on the morning will crawl.</a:t>
            </a:r>
          </a:p>
          <a:p>
            <a:endParaRPr/>
          </a:p>
          <a:p>
            <a:r>
              <a:t>Re-running is safe - files already present are skipped, so an interrupted copy just resumes.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them explicitly what success looks like, so they do not email asking whether a wall of version numbers is a problem.</a:t>
            </a:r>
          </a:p>
          <a:p>
            <a:endParaRPr/>
          </a:p>
          <a:p>
            <a:r>
              <a:t>Notebook 00 matters as well as the script: it is the only thing that confirms the Jupyter kernel is wired up correctly, which the script cannot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six cover almost every email you will get. The first and fourth together are probably half of them.</a:t>
            </a:r>
          </a:p>
          <a:p>
            <a:endParaRPr/>
          </a:p>
          <a:p>
            <a:r>
              <a:t>Point people at docs/INSTALL.md rather than expanding this slide - it has the platform-specific detail including Apple Silicon and imagecodecs.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an explicit deadline here - about three days before day 1 - so you have time to fix things and are not debugging conda in front of twenty-five people.</a:t>
            </a:r>
          </a:p>
          <a:p>
            <a:endParaRPr/>
          </a:p>
          <a:p>
            <a:r>
              <a:t>Add your own email address to this slide before sending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ringen | With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ngen  | Rings" descr="Afbeelding met cirkel, astronomie, kunst&#10;&#10;Door AI gegenereerde inhoud is mogelijk onjuist.">
            <a:extLst>
              <a:ext uri="{FF2B5EF4-FFF2-40B4-BE49-F238E27FC236}">
                <a16:creationId xmlns:a16="http://schemas.microsoft.com/office/drawing/2014/main" id="{2B8CC4EC-6F14-EB4B-2CCE-011FD848A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1"/>
            <a:ext cx="10088046" cy="6857433"/>
          </a:xfrm>
          <a:prstGeom prst="rect">
            <a:avLst/>
          </a:prstGeom>
        </p:spPr>
      </p:pic>
      <p:sp>
        <p:nvSpPr>
          <p:cNvPr id="2" name="Titelachtergrond | Title background">
            <a:extLst>
              <a:ext uri="{FF2B5EF4-FFF2-40B4-BE49-F238E27FC236}">
                <a16:creationId xmlns:a16="http://schemas.microsoft.com/office/drawing/2014/main" id="{06A374E3-2136-8ECB-CEAB-D18BA8E40FB1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dertitel | Subtitle">
            <a:extLst>
              <a:ext uri="{FF2B5EF4-FFF2-40B4-BE49-F238E27FC236}">
                <a16:creationId xmlns:a16="http://schemas.microsoft.com/office/drawing/2014/main" id="{0B62575E-DF3C-6BB5-20F5-AA3588ADF8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="0" i="0" kern="1200" baseline="0" dirty="0">
                <a:solidFill>
                  <a:srgbClr val="BCD2FF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7" name="Titel | Title">
            <a:extLst>
              <a:ext uri="{FF2B5EF4-FFF2-40B4-BE49-F238E27FC236}">
                <a16:creationId xmlns:a16="http://schemas.microsoft.com/office/drawing/2014/main" id="{757E5638-38C2-5190-9D25-B388016DD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4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ringen | Without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achtergrond | Title background">
            <a:extLst>
              <a:ext uri="{FF2B5EF4-FFF2-40B4-BE49-F238E27FC236}">
                <a16:creationId xmlns:a16="http://schemas.microsoft.com/office/drawing/2014/main" id="{4BF0381E-64FF-E4F7-BD58-236B750EA198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ndertitel | Subtitle">
            <a:extLst>
              <a:ext uri="{FF2B5EF4-FFF2-40B4-BE49-F238E27FC236}">
                <a16:creationId xmlns:a16="http://schemas.microsoft.com/office/drawing/2014/main" id="{81FE288D-BC76-D2E8-7E63-13602DBEC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3" name="Titel | Title">
            <a:extLst>
              <a:ext uri="{FF2B5EF4-FFF2-40B4-BE49-F238E27FC236}">
                <a16:creationId xmlns:a16="http://schemas.microsoft.com/office/drawing/2014/main" id="{510BC5AA-CA89-2FCB-B262-4D5946378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8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fbeelding | No imag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43331" y="4321694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 | Title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1829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erdere logo's | Multiple logos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3">
            <a:extLst>
              <a:ext uri="{FF2B5EF4-FFF2-40B4-BE49-F238E27FC236}">
                <a16:creationId xmlns:a16="http://schemas.microsoft.com/office/drawing/2014/main" id="{B1D7F52C-D248-4FDE-5E63-045149F50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84034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Logo 2">
            <a:extLst>
              <a:ext uri="{FF2B5EF4-FFF2-40B4-BE49-F238E27FC236}">
                <a16:creationId xmlns:a16="http://schemas.microsoft.com/office/drawing/2014/main" id="{273FD905-044D-55D4-79DE-675229D97A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52200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559B194D-62F5-CD40-99D6-F7F3A2B0B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845" y="3285360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4" name="Titel | Title">
            <a:extLst>
              <a:ext uri="{FF2B5EF4-FFF2-40B4-BE49-F238E27FC236}">
                <a16:creationId xmlns:a16="http://schemas.microsoft.com/office/drawing/2014/main" id="{FF85C9EA-CA51-5575-F1CB-303A00E2F4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6343" y="62011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7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boogelement | With arc el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| Subtitle">
            <a:extLst>
              <a:ext uri="{FF2B5EF4-FFF2-40B4-BE49-F238E27FC236}">
                <a16:creationId xmlns:a16="http://schemas.microsoft.com/office/drawing/2014/main" id="{F49FADBE-8919-6039-4BBB-42334647D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noFill/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6" name="Titel | Title">
            <a:extLst>
              <a:ext uri="{FF2B5EF4-FFF2-40B4-BE49-F238E27FC236}">
                <a16:creationId xmlns:a16="http://schemas.microsoft.com/office/drawing/2014/main" id="{06D15347-39FC-2BC0-D79C-3FDC06831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noFill/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rgbClr val="001158"/>
                </a:solidFill>
              </a:defRPr>
            </a:lvl1pPr>
          </a:lstStyle>
          <a:p>
            <a:pPr lvl="0"/>
            <a:r>
              <a:rPr lang="nl-NL" dirty="0"/>
              <a:t>Tekst |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AFBD849F-165F-60B3-8C73-100A2E36EB06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6124575" cy="6858000"/>
          </a:xfrm>
          <a:custGeom>
            <a:avLst/>
            <a:gdLst>
              <a:gd name="csX0" fmla="*/ 5487683 w 6124575"/>
              <a:gd name="csY0" fmla="*/ 0 h 6858000"/>
              <a:gd name="csX1" fmla="*/ 5917563 w 6124575"/>
              <a:gd name="csY1" fmla="*/ 0 h 6858000"/>
              <a:gd name="csX2" fmla="*/ 5913999 w 6124575"/>
              <a:gd name="csY2" fmla="*/ 6153 h 6858000"/>
              <a:gd name="csX3" fmla="*/ 5961575 w 6124575"/>
              <a:gd name="csY3" fmla="*/ 6581852 h 6858000"/>
              <a:gd name="csX4" fmla="*/ 6124575 w 6124575"/>
              <a:gd name="csY4" fmla="*/ 6858000 h 6858000"/>
              <a:gd name="csX5" fmla="*/ 5694695 w 6124575"/>
              <a:gd name="csY5" fmla="*/ 6858000 h 6858000"/>
              <a:gd name="csX6" fmla="*/ 5531694 w 6124575"/>
              <a:gd name="csY6" fmla="*/ 6581852 h 6858000"/>
              <a:gd name="csX7" fmla="*/ 5484119 w 6124575"/>
              <a:gd name="csY7" fmla="*/ 6153 h 6858000"/>
              <a:gd name="csX8" fmla="*/ 0 w 6124575"/>
              <a:gd name="csY8" fmla="*/ 0 h 6858000"/>
              <a:gd name="csX9" fmla="*/ 4486275 w 6124575"/>
              <a:gd name="csY9" fmla="*/ 0 h 6858000"/>
              <a:gd name="csX10" fmla="*/ 4505325 w 6124575"/>
              <a:gd name="csY10" fmla="*/ 0 h 6858000"/>
              <a:gd name="csX11" fmla="*/ 5478471 w 6124575"/>
              <a:gd name="csY11" fmla="*/ 0 h 6858000"/>
              <a:gd name="csX12" fmla="*/ 5474907 w 6124575"/>
              <a:gd name="csY12" fmla="*/ 6153 h 6858000"/>
              <a:gd name="csX13" fmla="*/ 5522483 w 6124575"/>
              <a:gd name="csY13" fmla="*/ 6581852 h 6858000"/>
              <a:gd name="csX14" fmla="*/ 5685484 w 6124575"/>
              <a:gd name="csY14" fmla="*/ 6858000 h 6858000"/>
              <a:gd name="csX15" fmla="*/ 4505325 w 6124575"/>
              <a:gd name="csY15" fmla="*/ 6858000 h 6858000"/>
              <a:gd name="csX16" fmla="*/ 4486275 w 6124575"/>
              <a:gd name="csY16" fmla="*/ 6858000 h 6858000"/>
              <a:gd name="csX17" fmla="*/ 4253188 w 6124575"/>
              <a:gd name="csY17" fmla="*/ 6858000 h 6858000"/>
              <a:gd name="csX18" fmla="*/ 4253188 w 6124575"/>
              <a:gd name="csY18" fmla="*/ 6846325 h 6858000"/>
              <a:gd name="csX19" fmla="*/ 4115224 w 6124575"/>
              <a:gd name="csY19" fmla="*/ 6591055 h 6858000"/>
              <a:gd name="csX20" fmla="*/ 1827972 w 6124575"/>
              <a:gd name="csY20" fmla="*/ 5019124 h 6858000"/>
              <a:gd name="csX21" fmla="*/ 5461 w 6124575"/>
              <a:gd name="csY21" fmla="*/ 5574608 h 6858000"/>
              <a:gd name="csX22" fmla="*/ 546 w 6124575"/>
              <a:gd name="csY22" fmla="*/ 3403345 h 6858000"/>
              <a:gd name="csX23" fmla="*/ 0 w 6124575"/>
              <a:gd name="csY23" fmla="*/ 3270517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124575" h="6858000">
                <a:moveTo>
                  <a:pt x="5487683" y="0"/>
                </a:moveTo>
                <a:lnTo>
                  <a:pt x="5917563" y="0"/>
                </a:lnTo>
                <a:lnTo>
                  <a:pt x="5913999" y="6153"/>
                </a:lnTo>
                <a:cubicBezTo>
                  <a:pt x="5247669" y="1188468"/>
                  <a:pt x="4375232" y="3761764"/>
                  <a:pt x="5961575" y="6581852"/>
                </a:cubicBezTo>
                <a:lnTo>
                  <a:pt x="6124575" y="6858000"/>
                </a:lnTo>
                <a:lnTo>
                  <a:pt x="5694695" y="6858000"/>
                </a:lnTo>
                <a:lnTo>
                  <a:pt x="5531694" y="6581852"/>
                </a:lnTo>
                <a:cubicBezTo>
                  <a:pt x="3945351" y="3761764"/>
                  <a:pt x="4817789" y="1188468"/>
                  <a:pt x="5484119" y="6153"/>
                </a:cubicBezTo>
                <a:close/>
                <a:moveTo>
                  <a:pt x="0" y="0"/>
                </a:moveTo>
                <a:lnTo>
                  <a:pt x="4486275" y="0"/>
                </a:lnTo>
                <a:lnTo>
                  <a:pt x="4505325" y="0"/>
                </a:lnTo>
                <a:lnTo>
                  <a:pt x="5478471" y="0"/>
                </a:lnTo>
                <a:lnTo>
                  <a:pt x="5474907" y="6153"/>
                </a:lnTo>
                <a:cubicBezTo>
                  <a:pt x="4808578" y="1188468"/>
                  <a:pt x="3936140" y="3761764"/>
                  <a:pt x="5522483" y="6581852"/>
                </a:cubicBezTo>
                <a:lnTo>
                  <a:pt x="5685484" y="6858000"/>
                </a:lnTo>
                <a:lnTo>
                  <a:pt x="4505325" y="6858000"/>
                </a:lnTo>
                <a:lnTo>
                  <a:pt x="4486275" y="6858000"/>
                </a:lnTo>
                <a:lnTo>
                  <a:pt x="4253188" y="6858000"/>
                </a:lnTo>
                <a:lnTo>
                  <a:pt x="4253188" y="6846325"/>
                </a:lnTo>
                <a:lnTo>
                  <a:pt x="4115224" y="6591055"/>
                </a:lnTo>
                <a:cubicBezTo>
                  <a:pt x="3379343" y="5325554"/>
                  <a:pt x="2437778" y="5079864"/>
                  <a:pt x="1827972" y="5019124"/>
                </a:cubicBezTo>
                <a:cubicBezTo>
                  <a:pt x="1177513" y="4954336"/>
                  <a:pt x="448113" y="5230191"/>
                  <a:pt x="5461" y="5574608"/>
                </a:cubicBezTo>
                <a:cubicBezTo>
                  <a:pt x="5092" y="4720154"/>
                  <a:pt x="3030" y="4039966"/>
                  <a:pt x="546" y="3403345"/>
                </a:cubicBezTo>
                <a:lnTo>
                  <a:pt x="0" y="3270517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titel | Closing titl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30415" y="4141700"/>
            <a:ext cx="6712642" cy="106182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ctr">
              <a:defRPr lang="nl-NL" sz="35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8913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Eindtitel | </a:t>
            </a:r>
            <a:r>
              <a:rPr lang="nl-NL" dirty="0" err="1"/>
              <a:t>Closing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5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1301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a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DB96C91C-E0D4-EC11-3F8B-CAE7339B82E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43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961FC177-D146-B3C7-089B-2F0BF5E5ABA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1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chtergrond |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p | Heading">
            <a:extLst>
              <a:ext uri="{FF2B5EF4-FFF2-40B4-BE49-F238E27FC236}">
                <a16:creationId xmlns:a16="http://schemas.microsoft.com/office/drawing/2014/main" id="{E04281C4-5487-A8A8-A808-56030A9D0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" name="Tekst | Text">
            <a:extLst>
              <a:ext uri="{FF2B5EF4-FFF2-40B4-BE49-F238E27FC236}">
                <a16:creationId xmlns:a16="http://schemas.microsoft.com/office/drawing/2014/main" id="{26083E2E-6335-9F99-8170-5E37C58D0D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109983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blokken | Two 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84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27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4" name="Kop | Heading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5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sgalerij | Image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25396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04362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5186323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7340077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945280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69D8373-14CB-C760-4AB3-77C1A9C1B5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5396" y="4349325"/>
            <a:ext cx="1812262" cy="10128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400">
                <a:latin typeface="Vestula Pro" panose="020B0A03060302020204" pitchFamily="34" charset="0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lvl="0"/>
            <a:r>
              <a:rPr lang="nl-NL" dirty="0"/>
              <a:t>Onderschrift (optioneel)</a:t>
            </a:r>
          </a:p>
          <a:p>
            <a:pPr lvl="0"/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04F93ADE-5C0C-408E-7495-B8BA38C81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43624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2D8DE384-1B30-1B1D-344B-5776F2A940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7674" y="4341600"/>
            <a:ext cx="1810800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25BB4D9D-2AFB-D4EC-7B5F-B7AD8A723E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40077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F9FCF455-94FF-CC07-2CE6-4B2C2B5E81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342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939D5F5-DDB1-D692-3CCB-72A299604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925396" y="360000"/>
            <a:ext cx="103412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70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EN">
            <a:extLst>
              <a:ext uri="{FF2B5EF4-FFF2-40B4-BE49-F238E27FC236}">
                <a16:creationId xmlns:a16="http://schemas.microsoft.com/office/drawing/2014/main" id="{F060E9E6-F4FE-AF50-CB38-D7686AE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31497"/>
            <a:ext cx="4249280" cy="1926502"/>
          </a:xfrm>
          <a:prstGeom prst="rect">
            <a:avLst/>
          </a:prstGeom>
        </p:spPr>
      </p:pic>
      <p:pic>
        <p:nvPicPr>
          <p:cNvPr id="5" name="Logo NL" descr="Afbeelding met tekst, logo, symbool, Lettertype&#10;&#10;Door AI gegenereerde inhoud is mogelijk onjuist.">
            <a:extLst>
              <a:ext uri="{FF2B5EF4-FFF2-40B4-BE49-F238E27FC236}">
                <a16:creationId xmlns:a16="http://schemas.microsoft.com/office/drawing/2014/main" id="{48115860-2C01-1CEF-6C22-14E5BF50DD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1497"/>
            <a:ext cx="424928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5" r:id="rId4"/>
    <p:sldLayoutId id="2147483833" r:id="rId5"/>
    <p:sldLayoutId id="214748377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DC18183-0354-EBD2-86E1-3F4CAE2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Kop | </a:t>
            </a:r>
            <a:r>
              <a:rPr lang="nl-NL" dirty="0" err="1"/>
              <a:t>Heading</a:t>
            </a: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9AE6F7-748E-3BDB-680C-7A4BABAB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39" r:id="rId3"/>
    <p:sldLayoutId id="2147483820" r:id="rId4"/>
    <p:sldLayoutId id="2147483822" r:id="rId5"/>
    <p:sldLayoutId id="2147483845" r:id="rId6"/>
    <p:sldLayoutId id="2147483838" r:id="rId7"/>
    <p:sldLayoutId id="2147483843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b="0" i="0" kern="1200" dirty="0">
          <a:solidFill>
            <a:srgbClr val="0C2577"/>
          </a:solidFill>
          <a:latin typeface="Merriweather" pitchFamily="2" charset="77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uvalab/Workshop-Xenium-in-Pyth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Installing Python and the workshop environment</a:t>
            </a:r>
          </a:p>
          <a:p>
            <a:r>
              <a:t>Spatial transcriptomics · Anatomy &amp; Embryology, LUMC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Before the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steps, about twenty minutes</a:t>
            </a:r>
          </a:p>
        </p:txBody>
      </p:sp>
      <p:pic>
        <p:nvPicPr>
          <p:cNvPr id="3" name="Picture 2" descr="instal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00" y="2037600"/>
            <a:ext cx="10998300" cy="28094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400" y="4927035"/>
            <a:ext cx="109983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Most of that time is waiting. Do it days ahead, not the night before.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500" b="0"/>
              <a:t>A laptop with </a:t>
            </a:r>
            <a:r>
              <a:rPr sz="1500" b="1"/>
              <a:t>8 GB RAM</a:t>
            </a:r>
            <a:r>
              <a:rPr sz="1500" b="0"/>
              <a:t> (16 GB is comfortable) and </a:t>
            </a:r>
            <a:r>
              <a:rPr sz="1500" b="1"/>
              <a:t>5 GB free disk</a:t>
            </a:r>
          </a:p>
          <a:p>
            <a:pPr>
              <a:spcAft>
                <a:spcPts val="900"/>
              </a:spcAft>
            </a:pPr>
            <a:r>
              <a:rPr sz="1500" b="1"/>
              <a:t>Access to the P: drive — if you cannot open it in File Explorer today, ask now, because permissions can take a day or two</a:t>
            </a:r>
          </a:p>
          <a:p>
            <a:pPr>
              <a:spcAft>
                <a:spcPts val="900"/>
              </a:spcAft>
            </a:pPr>
            <a:r>
              <a:rPr sz="1500" b="0"/>
              <a:t>The LUMC </a:t>
            </a:r>
            <a:r>
              <a:rPr sz="1500" b="1"/>
              <a:t>VPN</a:t>
            </a:r>
            <a:r>
              <a:rPr sz="1500" b="0"/>
              <a:t>, if you will be working from home</a:t>
            </a:r>
          </a:p>
          <a:p>
            <a:pPr>
              <a:spcAft>
                <a:spcPts val="900"/>
              </a:spcAft>
            </a:pPr>
            <a:r>
              <a:rPr sz="1500" b="0"/>
              <a:t>About twenty minutes, most of it waiting</a:t>
            </a:r>
          </a:p>
          <a:p>
            <a:pPr>
              <a:spcAft>
                <a:spcPts val="900"/>
              </a:spcAft>
            </a:pPr>
            <a:r>
              <a:rPr sz="1500" b="0"/>
              <a:t>You do </a:t>
            </a:r>
            <a:r>
              <a:rPr sz="1500" b="1"/>
              <a:t>not</a:t>
            </a:r>
            <a:r>
              <a:rPr sz="1500" b="0"/>
              <a:t> need to know Python. Every cell in the workshop runs as written.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need first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400" b="0" dirty="0"/>
              <a:t>Download from </a:t>
            </a:r>
            <a:r>
              <a:rPr sz="1400" b="1" dirty="0"/>
              <a:t>github.com/</a:t>
            </a:r>
            <a:r>
              <a:rPr sz="1400" b="1" dirty="0" err="1"/>
              <a:t>conda</a:t>
            </a:r>
            <a:r>
              <a:rPr sz="1400" b="1" dirty="0"/>
              <a:t>-forge/</a:t>
            </a:r>
            <a:r>
              <a:rPr sz="1400" b="1" dirty="0" err="1"/>
              <a:t>miniforge</a:t>
            </a:r>
            <a:r>
              <a:rPr sz="1400" b="0" dirty="0"/>
              <a:t> and run the installer.</a:t>
            </a:r>
          </a:p>
          <a:p>
            <a:pPr>
              <a:spcAft>
                <a:spcPts val="900"/>
              </a:spcAft>
            </a:pPr>
            <a:r>
              <a:rPr sz="1400" b="0" dirty="0"/>
              <a:t>Accept the defaults. Install </a:t>
            </a:r>
            <a:r>
              <a:rPr sz="1400" b="1" dirty="0"/>
              <a:t>for your user only</a:t>
            </a:r>
            <a:r>
              <a:rPr sz="1400" b="0" dirty="0"/>
              <a:t>, not system-wide — you do not need admin rights that way.</a:t>
            </a:r>
          </a:p>
          <a:p>
            <a:pPr>
              <a:spcAft>
                <a:spcPts val="900"/>
              </a:spcAft>
            </a:pPr>
            <a:r>
              <a:rPr sz="1400" b="1" dirty="0"/>
              <a:t>Windows:</a:t>
            </a:r>
            <a:r>
              <a:rPr sz="1400" b="0" dirty="0"/>
              <a:t> afterwards you will have a </a:t>
            </a:r>
            <a:r>
              <a:rPr sz="1400" b="1" dirty="0" err="1"/>
              <a:t>Miniforge</a:t>
            </a:r>
            <a:r>
              <a:rPr sz="1400" b="1" dirty="0"/>
              <a:t> Prompt</a:t>
            </a:r>
            <a:r>
              <a:rPr sz="1400" b="0" dirty="0"/>
              <a:t> in the Start menu. Use that for every command in this guide, not PowerShell or CMD.</a:t>
            </a:r>
          </a:p>
          <a:p>
            <a:pPr>
              <a:spcAft>
                <a:spcPts val="900"/>
              </a:spcAft>
            </a:pPr>
            <a:r>
              <a:rPr sz="1400" b="1" dirty="0"/>
              <a:t>macOS:</a:t>
            </a:r>
            <a:r>
              <a:rPr sz="1400" b="0" dirty="0"/>
              <a:t> use the normal Terminal. On an M1/M2/M3/M4 Mac take the </a:t>
            </a:r>
            <a:r>
              <a:rPr sz="1400" b="1" dirty="0"/>
              <a:t>arm64</a:t>
            </a:r>
            <a:r>
              <a:rPr sz="1400" b="0" dirty="0"/>
              <a:t> installer.</a:t>
            </a:r>
          </a:p>
          <a:p>
            <a:pPr>
              <a:spcAft>
                <a:spcPts val="900"/>
              </a:spcAft>
            </a:pPr>
            <a:r>
              <a:rPr sz="1400" b="0" dirty="0"/>
              <a:t>Already have Anaconda? It works too — skip to step 2 and use the </a:t>
            </a:r>
            <a:r>
              <a:rPr sz="1400" b="1" dirty="0"/>
              <a:t>Anaconda Prompt</a:t>
            </a:r>
            <a:r>
              <a:rPr sz="1400" b="0" dirty="0"/>
              <a:t>. Note that Anaconda's </a:t>
            </a:r>
            <a:r>
              <a:rPr sz="1400" b="0" dirty="0" err="1"/>
              <a:t>licence</a:t>
            </a:r>
            <a:r>
              <a:rPr sz="1400" b="0" dirty="0"/>
              <a:t> now requires a paid subscription for large </a:t>
            </a:r>
            <a:r>
              <a:rPr sz="1400" b="0" dirty="0" err="1"/>
              <a:t>organisations</a:t>
            </a:r>
            <a:r>
              <a:rPr sz="1400" b="0" dirty="0"/>
              <a:t>, which is why we suggest </a:t>
            </a:r>
            <a:r>
              <a:rPr sz="1400" b="0" dirty="0" err="1"/>
              <a:t>Miniforge</a:t>
            </a:r>
            <a:r>
              <a:rPr sz="1400" b="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install Miniforge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400" b="0" dirty="0"/>
              <a:t>Everything lives at </a:t>
            </a:r>
            <a:r>
              <a:rPr lang="en-US" sz="1400" b="1" dirty="0">
                <a:hlinkClick r:id="rId3"/>
              </a:rPr>
              <a:t>https://github.com/chuvalab/Workshop-Xenium-in-Python/</a:t>
            </a:r>
            <a:endParaRPr lang="en-US" sz="1400" b="1" dirty="0"/>
          </a:p>
          <a:p>
            <a:pPr>
              <a:spcAft>
                <a:spcPts val="900"/>
              </a:spcAft>
            </a:pPr>
            <a:endParaRPr sz="1400" b="1" dirty="0"/>
          </a:p>
          <a:p>
            <a:pPr>
              <a:spcAft>
                <a:spcPts val="900"/>
              </a:spcAft>
            </a:pPr>
            <a:r>
              <a:rPr sz="1400" b="0" dirty="0"/>
              <a:t>Click </a:t>
            </a:r>
            <a:r>
              <a:rPr sz="1400" b="1" dirty="0"/>
              <a:t>Code → Download ZIP</a:t>
            </a:r>
            <a:r>
              <a:rPr sz="1400" b="0" dirty="0"/>
              <a:t> on that page, then unzip it somewhere sensible.</a:t>
            </a:r>
          </a:p>
          <a:p>
            <a:pPr>
              <a:spcAft>
                <a:spcPts val="900"/>
              </a:spcAft>
            </a:pPr>
            <a:endParaRPr sz="1400" b="0" dirty="0"/>
          </a:p>
          <a:p>
            <a:pPr>
              <a:spcAft>
                <a:spcPts val="900"/>
              </a:spcAft>
            </a:pPr>
            <a:r>
              <a:rPr sz="1400" b="1" dirty="0"/>
              <a:t>Put it somewhere without spaces or accents in the path, and not inside OneDrive — syncing a folder full of large files while you work causes odd failures.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get the workshop files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 — </a:t>
            </a:r>
            <a:r>
              <a:rPr dirty="0" err="1"/>
              <a:t>create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300" b="0" dirty="0"/>
              <a:t>In the </a:t>
            </a:r>
            <a:r>
              <a:rPr sz="1300" b="0" dirty="0" err="1"/>
              <a:t>Miniforge</a:t>
            </a:r>
            <a:r>
              <a:rPr sz="1300" b="0" dirty="0"/>
              <a:t> Prompt, from inside the workshop folder:</a:t>
            </a:r>
          </a:p>
          <a:p>
            <a:pPr lvl="1">
              <a:spcAft>
                <a:spcPts val="700"/>
              </a:spcAft>
              <a:buNone/>
            </a:pPr>
            <a:r>
              <a:rPr lang="en-US" sz="1200" dirty="0">
                <a:latin typeface="Consolas"/>
              </a:rPr>
              <a:t>cd X:\path\to\the\githubdownload</a:t>
            </a:r>
            <a:endParaRPr lang="en-US" sz="1200" b="0" dirty="0">
              <a:latin typeface="Consolas"/>
            </a:endParaRPr>
          </a:p>
          <a:p>
            <a:pPr lvl="1">
              <a:spcAft>
                <a:spcPts val="700"/>
              </a:spcAft>
              <a:buNone/>
            </a:pPr>
            <a:r>
              <a:rPr sz="1200" b="0" dirty="0" err="1">
                <a:latin typeface="Consolas"/>
              </a:rPr>
              <a:t>conda</a:t>
            </a:r>
            <a:r>
              <a:rPr sz="1200" b="0" dirty="0">
                <a:latin typeface="Consolas"/>
              </a:rPr>
              <a:t> env create -f </a:t>
            </a:r>
            <a:r>
              <a:rPr sz="1200" b="0" dirty="0" err="1">
                <a:latin typeface="Consolas"/>
              </a:rPr>
              <a:t>environment.yml</a:t>
            </a:r>
            <a:endParaRPr sz="1200" b="0" dirty="0">
              <a:latin typeface="Consolas"/>
            </a:endParaRPr>
          </a:p>
          <a:p>
            <a:pPr lvl="1">
              <a:spcAft>
                <a:spcPts val="700"/>
              </a:spcAft>
              <a:buNone/>
            </a:pPr>
            <a:r>
              <a:rPr sz="1200" b="0" dirty="0" err="1">
                <a:latin typeface="Consolas"/>
              </a:rPr>
              <a:t>conda</a:t>
            </a:r>
            <a:r>
              <a:rPr sz="1200" b="0" dirty="0">
                <a:latin typeface="Consolas"/>
              </a:rPr>
              <a:t> activate </a:t>
            </a:r>
            <a:r>
              <a:rPr sz="1200" b="0" dirty="0" err="1">
                <a:latin typeface="Consolas"/>
              </a:rPr>
              <a:t>spatialtx</a:t>
            </a:r>
            <a:endParaRPr sz="1200" b="0" dirty="0">
              <a:latin typeface="Consolas"/>
            </a:endParaRPr>
          </a:p>
          <a:p>
            <a:pPr>
              <a:spcAft>
                <a:spcPts val="700"/>
              </a:spcAft>
              <a:buNone/>
            </a:pPr>
            <a:r>
              <a:rPr sz="1300" b="0" dirty="0"/>
              <a:t>This takes 5–15 minutes and prints a great deal. That is normal.</a:t>
            </a:r>
          </a:p>
          <a:p>
            <a:pPr>
              <a:spcAft>
                <a:spcPts val="700"/>
              </a:spcAft>
              <a:buNone/>
            </a:pPr>
            <a:r>
              <a:rPr sz="1300" b="0" dirty="0"/>
              <a:t>Then register it so </a:t>
            </a:r>
            <a:r>
              <a:rPr sz="1300" b="0" dirty="0" err="1"/>
              <a:t>Jupyter</a:t>
            </a:r>
            <a:r>
              <a:rPr sz="1300" b="0" dirty="0"/>
              <a:t> can see it:</a:t>
            </a:r>
          </a:p>
          <a:p>
            <a:pPr lvl="1">
              <a:spcAft>
                <a:spcPts val="700"/>
              </a:spcAft>
              <a:buNone/>
            </a:pPr>
            <a:r>
              <a:rPr sz="1200" b="0" dirty="0">
                <a:latin typeface="Consolas"/>
              </a:rPr>
              <a:t>python -m </a:t>
            </a:r>
            <a:r>
              <a:rPr sz="1200" b="0" dirty="0" err="1">
                <a:latin typeface="Consolas"/>
              </a:rPr>
              <a:t>ipykernel</a:t>
            </a:r>
            <a:r>
              <a:rPr sz="1200" b="0" dirty="0">
                <a:latin typeface="Consolas"/>
              </a:rPr>
              <a:t> install --user --name </a:t>
            </a:r>
            <a:r>
              <a:rPr sz="1200" b="0" dirty="0" err="1">
                <a:latin typeface="Consolas"/>
              </a:rPr>
              <a:t>spatialtx</a:t>
            </a:r>
            <a:r>
              <a:rPr sz="1200" b="0" dirty="0">
                <a:latin typeface="Consolas"/>
              </a:rPr>
              <a:t> --display-name "Python (</a:t>
            </a:r>
            <a:r>
              <a:rPr sz="1200" b="0" dirty="0" err="1">
                <a:latin typeface="Consolas"/>
              </a:rPr>
              <a:t>spatialtx</a:t>
            </a:r>
            <a:r>
              <a:rPr sz="1200" b="0" dirty="0">
                <a:latin typeface="Consolas"/>
              </a:rPr>
              <a:t>)"</a:t>
            </a:r>
          </a:p>
          <a:p>
            <a:pPr>
              <a:spcAft>
                <a:spcPts val="700"/>
              </a:spcAft>
              <a:buNone/>
            </a:pPr>
            <a:r>
              <a:rPr sz="1300" b="0" dirty="0"/>
              <a:t>If the solve is very slow, install mamba once and use it instead — it is the same thing, faster:</a:t>
            </a:r>
          </a:p>
          <a:p>
            <a:pPr lvl="1">
              <a:spcAft>
                <a:spcPts val="700"/>
              </a:spcAft>
              <a:buNone/>
            </a:pPr>
            <a:r>
              <a:rPr sz="1200" b="0" dirty="0" err="1">
                <a:latin typeface="Consolas"/>
              </a:rPr>
              <a:t>conda</a:t>
            </a:r>
            <a:r>
              <a:rPr sz="1200" b="0" dirty="0">
                <a:latin typeface="Consolas"/>
              </a:rPr>
              <a:t> install -n base -c </a:t>
            </a:r>
            <a:r>
              <a:rPr sz="1200" b="0" dirty="0" err="1">
                <a:latin typeface="Consolas"/>
              </a:rPr>
              <a:t>conda</a:t>
            </a:r>
            <a:r>
              <a:rPr sz="1200" b="0" dirty="0">
                <a:latin typeface="Consolas"/>
              </a:rPr>
              <a:t>-forge mamba</a:t>
            </a:r>
          </a:p>
          <a:p>
            <a:pPr lvl="1">
              <a:spcAft>
                <a:spcPts val="700"/>
              </a:spcAft>
              <a:buNone/>
            </a:pPr>
            <a:r>
              <a:rPr sz="1200" b="0" dirty="0">
                <a:latin typeface="Consolas"/>
              </a:rPr>
              <a:t>mamba env create -f </a:t>
            </a:r>
            <a:r>
              <a:rPr sz="1200" b="0" dirty="0" err="1">
                <a:latin typeface="Consolas"/>
              </a:rPr>
              <a:t>environment.yml</a:t>
            </a:r>
            <a:endParaRPr sz="1200" b="0" dirty="0"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300" b="0" dirty="0"/>
              <a:t>The dataset is on the department share:</a:t>
            </a:r>
          </a:p>
          <a:p>
            <a:pPr lvl="1">
              <a:spcAft>
                <a:spcPts val="900"/>
              </a:spcAft>
              <a:buNone/>
            </a:pPr>
            <a:r>
              <a:rPr sz="1200" b="0" dirty="0">
                <a:latin typeface="Consolas"/>
              </a:rPr>
              <a:t>P:\PI\PI_Chuva_de_Sousa_Lopes\susana\SpatialTranscriptomicsWorkshop\data</a:t>
            </a:r>
          </a:p>
          <a:p>
            <a:pPr>
              <a:spcAft>
                <a:spcPts val="900"/>
              </a:spcAft>
            </a:pPr>
            <a:endParaRPr sz="1300" b="1" dirty="0"/>
          </a:p>
          <a:p>
            <a:pPr>
              <a:spcAft>
                <a:spcPts val="900"/>
              </a:spcAft>
            </a:pPr>
            <a:r>
              <a:rPr sz="1300" b="1" dirty="0"/>
              <a:t>Copy it — do not work directly off P:. The notebooks write their results back into the data folder, and reading large files over the network in every cell is painfully slow.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— copy the data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100" b="0" dirty="0">
                <a:latin typeface="Consolas"/>
              </a:rPr>
              <a:t>python scripts/check_install.py</a:t>
            </a:r>
          </a:p>
          <a:p>
            <a:pPr>
              <a:spcAft>
                <a:spcPts val="700"/>
              </a:spcAft>
              <a:buNone/>
            </a:pPr>
            <a:endParaRPr sz="1100" b="0" dirty="0">
              <a:latin typeface="Consolas"/>
            </a:endParaRPr>
          </a:p>
          <a:p>
            <a:pPr>
              <a:spcAft>
                <a:spcPts val="700"/>
              </a:spcAft>
              <a:buNone/>
            </a:pPr>
            <a:r>
              <a:rPr sz="1200" b="0" dirty="0"/>
              <a:t>It prints a </a:t>
            </a:r>
            <a:r>
              <a:rPr sz="1200" b="0" dirty="0" err="1"/>
              <a:t>version</a:t>
            </a:r>
            <a:r>
              <a:rPr sz="1200" b="0" dirty="0"/>
              <a:t> </a:t>
            </a:r>
            <a:r>
              <a:rPr sz="1200" b="0" dirty="0" err="1"/>
              <a:t>table</a:t>
            </a:r>
            <a:r>
              <a:rPr sz="1200" b="0" dirty="0"/>
              <a:t>, runs a small end-</a:t>
            </a:r>
            <a:r>
              <a:rPr sz="1200" b="0" dirty="0" err="1"/>
              <a:t>to</a:t>
            </a:r>
            <a:r>
              <a:rPr sz="1200" b="0" dirty="0"/>
              <a:t>-end test, and </a:t>
            </a:r>
            <a:r>
              <a:rPr sz="1200" b="0" dirty="0" err="1"/>
              <a:t>confirms</a:t>
            </a:r>
            <a:r>
              <a:rPr sz="1200" b="0" dirty="0"/>
              <a:t> </a:t>
            </a:r>
            <a:r>
              <a:rPr sz="1200" b="0" dirty="0" err="1"/>
              <a:t>the</a:t>
            </a:r>
            <a:r>
              <a:rPr sz="1200" b="0" dirty="0"/>
              <a:t> data is present.</a:t>
            </a:r>
          </a:p>
          <a:p>
            <a:pPr>
              <a:spcAft>
                <a:spcPts val="700"/>
              </a:spcAft>
              <a:buNone/>
            </a:pPr>
            <a:r>
              <a:rPr sz="1200" b="1" dirty="0" err="1"/>
              <a:t>You</a:t>
            </a:r>
            <a:r>
              <a:rPr sz="1200" b="1" dirty="0"/>
              <a:t> want </a:t>
            </a:r>
            <a:r>
              <a:rPr sz="1200" b="1" dirty="0" err="1"/>
              <a:t>the</a:t>
            </a:r>
            <a:r>
              <a:rPr sz="1200" b="1" dirty="0"/>
              <a:t> last line </a:t>
            </a:r>
            <a:r>
              <a:rPr sz="1200" b="1" dirty="0" err="1"/>
              <a:t>to</a:t>
            </a:r>
            <a:r>
              <a:rPr sz="1200" b="1" dirty="0"/>
              <a:t> </a:t>
            </a:r>
            <a:r>
              <a:rPr sz="1200" b="1" dirty="0" err="1"/>
              <a:t>read</a:t>
            </a:r>
            <a:r>
              <a:rPr sz="1200" b="1" dirty="0"/>
              <a:t> </a:t>
            </a:r>
            <a:r>
              <a:rPr sz="1200" b="1" dirty="0" err="1"/>
              <a:t>All</a:t>
            </a:r>
            <a:r>
              <a:rPr sz="1200" b="1" dirty="0"/>
              <a:t> </a:t>
            </a:r>
            <a:r>
              <a:rPr sz="1200" b="1" dirty="0" err="1"/>
              <a:t>good</a:t>
            </a:r>
            <a:r>
              <a:rPr sz="1200" b="1" dirty="0"/>
              <a:t>.</a:t>
            </a:r>
          </a:p>
          <a:p>
            <a:pPr>
              <a:spcAft>
                <a:spcPts val="700"/>
              </a:spcAft>
              <a:buNone/>
            </a:pPr>
            <a:endParaRPr sz="1200" b="1" dirty="0"/>
          </a:p>
          <a:p>
            <a:pPr>
              <a:spcAft>
                <a:spcPts val="700"/>
              </a:spcAft>
              <a:buNone/>
            </a:pPr>
            <a:r>
              <a:rPr sz="1200" b="0" dirty="0" err="1"/>
              <a:t>Then</a:t>
            </a:r>
            <a:r>
              <a:rPr sz="1200" b="0" dirty="0"/>
              <a:t> open </a:t>
            </a:r>
            <a:r>
              <a:rPr sz="1200" b="0" dirty="0" err="1"/>
              <a:t>the</a:t>
            </a:r>
            <a:r>
              <a:rPr sz="1200" b="0" dirty="0"/>
              <a:t> notebook and run </a:t>
            </a:r>
            <a:r>
              <a:rPr sz="1200" b="0" dirty="0" err="1"/>
              <a:t>every</a:t>
            </a:r>
            <a:r>
              <a:rPr sz="1200" b="0" dirty="0"/>
              <a:t> </a:t>
            </a:r>
            <a:r>
              <a:rPr sz="1200" b="0" dirty="0" err="1"/>
              <a:t>cell</a:t>
            </a:r>
            <a:r>
              <a:rPr sz="1200" b="0" dirty="0"/>
              <a:t>:</a:t>
            </a:r>
          </a:p>
          <a:p>
            <a:pPr>
              <a:spcAft>
                <a:spcPts val="700"/>
              </a:spcAft>
              <a:buNone/>
            </a:pPr>
            <a:r>
              <a:rPr sz="1100" b="0" dirty="0" err="1">
                <a:latin typeface="Consolas"/>
              </a:rPr>
              <a:t>jupyter</a:t>
            </a:r>
            <a:r>
              <a:rPr sz="1100" b="0" dirty="0">
                <a:latin typeface="Consolas"/>
              </a:rPr>
              <a:t> lab</a:t>
            </a:r>
          </a:p>
          <a:p>
            <a:pPr>
              <a:spcAft>
                <a:spcPts val="700"/>
              </a:spcAft>
              <a:buNone/>
            </a:pPr>
            <a:r>
              <a:rPr sz="1100" b="0" dirty="0">
                <a:latin typeface="Consolas"/>
              </a:rPr>
              <a:t>notebooks/00_setup_check.ipynb</a:t>
            </a:r>
          </a:p>
          <a:p>
            <a:pPr>
              <a:spcAft>
                <a:spcPts val="700"/>
              </a:spcAft>
              <a:buNone/>
            </a:pPr>
            <a:endParaRPr sz="1100" b="0" dirty="0">
              <a:latin typeface="Consolas"/>
            </a:endParaRPr>
          </a:p>
          <a:p>
            <a:pPr>
              <a:spcAft>
                <a:spcPts val="700"/>
              </a:spcAft>
              <a:buNone/>
            </a:pPr>
            <a:r>
              <a:rPr sz="1200" b="0" dirty="0"/>
              <a:t>Check </a:t>
            </a:r>
            <a:r>
              <a:rPr sz="1200" b="0" dirty="0" err="1"/>
              <a:t>the</a:t>
            </a:r>
            <a:r>
              <a:rPr sz="1200" b="0" dirty="0"/>
              <a:t> </a:t>
            </a:r>
            <a:r>
              <a:rPr sz="1200" b="0" dirty="0" err="1"/>
              <a:t>kernel</a:t>
            </a:r>
            <a:r>
              <a:rPr sz="1200" b="0" dirty="0"/>
              <a:t> </a:t>
            </a:r>
            <a:r>
              <a:rPr sz="1200" b="0" dirty="0" err="1"/>
              <a:t>says</a:t>
            </a:r>
            <a:r>
              <a:rPr sz="1200" b="0" dirty="0"/>
              <a:t> </a:t>
            </a:r>
            <a:r>
              <a:rPr sz="1200" b="1" dirty="0"/>
              <a:t>Python (</a:t>
            </a:r>
            <a:r>
              <a:rPr sz="1200" b="1" dirty="0" err="1"/>
              <a:t>spatialtx</a:t>
            </a:r>
            <a:r>
              <a:rPr sz="1200" b="1" dirty="0"/>
              <a:t>)</a:t>
            </a:r>
            <a:r>
              <a:rPr sz="1200" b="0" dirty="0"/>
              <a:t> in </a:t>
            </a:r>
            <a:r>
              <a:rPr sz="1200" b="0" dirty="0" err="1"/>
              <a:t>the</a:t>
            </a:r>
            <a:r>
              <a:rPr sz="1200" b="0" dirty="0"/>
              <a:t> top right.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5 — check </a:t>
            </a:r>
            <a:r>
              <a:rPr dirty="0" err="1"/>
              <a:t>it</a:t>
            </a:r>
            <a:r>
              <a:rPr dirty="0"/>
              <a:t> </a:t>
            </a:r>
            <a:r>
              <a:rPr dirty="0" err="1"/>
              <a:t>worked</a:t>
            </a:r>
            <a:endParaRPr dirty="0"/>
          </a:p>
        </p:txBody>
      </p:sp>
      <p:pic>
        <p:nvPicPr>
          <p:cNvPr id="5" name="Picture 4" descr="check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92" y="2037600"/>
            <a:ext cx="465921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something goes wrong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300" b="1"/>
              <a:t>'conda' is not recognised</a:t>
            </a:r>
            <a:r>
              <a:rPr sz="1300" b="0"/>
              <a:t> — you are in the wrong terminal. Use the Miniforge Prompt from the Start menu.</a:t>
            </a:r>
          </a:p>
          <a:p>
            <a:pPr>
              <a:spcAft>
                <a:spcPts val="800"/>
              </a:spcAft>
            </a:pPr>
            <a:r>
              <a:rPr sz="1300" b="1"/>
              <a:t>Solving environment takes forever</a:t>
            </a:r>
            <a:r>
              <a:rPr sz="1300" b="0"/>
              <a:t> — normal up to about 15 minutes. Beyond that, install mamba and use it instead.</a:t>
            </a:r>
          </a:p>
          <a:p>
            <a:pPr>
              <a:spcAft>
                <a:spcPts val="800"/>
              </a:spcAft>
            </a:pPr>
            <a:r>
              <a:rPr sz="1300" b="1"/>
              <a:t>PackagesNotFoundError</a:t>
            </a:r>
            <a:r>
              <a:rPr sz="1300" b="0"/>
              <a:t> — a channel problem. Miniforge avoids it; if you are on Anaconda, run </a:t>
            </a:r>
            <a:r>
              <a:rPr sz="1300" b="1"/>
              <a:t>conda config --add channels conda-forge</a:t>
            </a:r>
            <a:r>
              <a:rPr sz="1300" b="0"/>
              <a:t>.</a:t>
            </a:r>
          </a:p>
          <a:p>
            <a:pPr>
              <a:spcAft>
                <a:spcPts val="800"/>
              </a:spcAft>
            </a:pPr>
            <a:r>
              <a:rPr sz="1300" b="1"/>
              <a:t>The spatialtx kernel is missing in Jupyter</a:t>
            </a:r>
            <a:r>
              <a:rPr sz="1300" b="0"/>
              <a:t> — you skipped the ipykernel line in step 3. Run it, then restart JupyterLab.</a:t>
            </a:r>
          </a:p>
          <a:p>
            <a:pPr>
              <a:spcAft>
                <a:spcPts val="800"/>
              </a:spcAft>
            </a:pPr>
            <a:r>
              <a:rPr sz="1300" b="1"/>
              <a:t>Could not find the data share</a:t>
            </a:r>
            <a:r>
              <a:rPr sz="1300" b="0"/>
              <a:t> — check P: is connected in File Explorer, and that you are on the VPN if working from home.</a:t>
            </a:r>
          </a:p>
          <a:p>
            <a:pPr>
              <a:spcAft>
                <a:spcPts val="800"/>
              </a:spcAft>
            </a:pPr>
            <a:r>
              <a:rPr sz="1300" b="1"/>
              <a:t>The kernel dies while loading data</a:t>
            </a:r>
            <a:r>
              <a:rPr sz="1300" b="0"/>
              <a:t> — out of memory. Close Chrome.</a:t>
            </a:r>
          </a:p>
          <a:p>
            <a:pPr>
              <a:spcAft>
                <a:spcPts val="800"/>
              </a:spcAft>
            </a:pPr>
            <a:r>
              <a:rPr sz="1300" b="1"/>
              <a:t>Fuller list with fixes: docs/INSTALL.md in the repository.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Stuck? Ask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dia's | 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0DE10A4B-82F4-4076-A806-01A05AF0CC1E}"/>
    </a:ext>
  </a:extLst>
</a:theme>
</file>

<file path=ppt/theme/theme2.xml><?xml version="1.0" encoding="utf-8"?>
<a:theme xmlns:a="http://schemas.openxmlformats.org/drawingml/2006/main" name="Inhouddia's |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4745102E-F7BE-4C89-A0DC-80C5976D533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E77E9BB20574C88F1A51905EBD0AF" ma:contentTypeVersion="4" ma:contentTypeDescription="Create a new document." ma:contentTypeScope="" ma:versionID="455c74ca665ac03d7ee707fc48cc1da4">
  <xsd:schema xmlns:xsd="http://www.w3.org/2001/XMLSchema" xmlns:xs="http://www.w3.org/2001/XMLSchema" xmlns:p="http://schemas.microsoft.com/office/2006/metadata/properties" xmlns:ns2="01a1795b-c314-4f6e-9e61-ae7877c66689" targetNamespace="http://schemas.microsoft.com/office/2006/metadata/properties" ma:root="true" ma:fieldsID="7f1125c12b2a4d355fdeb8f38e5be982" ns2:_="">
    <xsd:import namespace="01a1795b-c314-4f6e-9e61-ae7877c66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1795b-c314-4f6e-9e61-ae7877c66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F798CA-DD6B-4E33-A309-EB3438BB22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a1795b-c314-4f6e-9e61-ae7877c666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C19E0A-4185-408F-B909-D5C369F93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9AE33E-0A9E-4BD8-990C-786E2BB7161F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1243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Consolas</vt:lpstr>
      <vt:lpstr>Merriweather</vt:lpstr>
      <vt:lpstr>Vestula</vt:lpstr>
      <vt:lpstr>Vestula Pro</vt:lpstr>
      <vt:lpstr>Titeldia's | Title slides</vt:lpstr>
      <vt:lpstr>Inhouddia's | Content slides</vt:lpstr>
      <vt:lpstr>Before the workshop</vt:lpstr>
      <vt:lpstr>Five steps, about twenty minutes</vt:lpstr>
      <vt:lpstr>What you need first</vt:lpstr>
      <vt:lpstr>Step 1 — install Miniforge</vt:lpstr>
      <vt:lpstr>Step 2 — get the workshop files</vt:lpstr>
      <vt:lpstr>Step 3 — create the environment</vt:lpstr>
      <vt:lpstr>Step 4 — copy the data</vt:lpstr>
      <vt:lpstr>Step 5 — check it worked</vt:lpstr>
      <vt:lpstr>If something goes wrong</vt:lpstr>
      <vt:lpstr>Stuck? Ask early.</vt:lpstr>
    </vt:vector>
  </TitlesOfParts>
  <Company>Universiteit Leiden - ISSC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Scheen, D.A.C. (Daniël)</dc:creator>
  <cp:lastModifiedBy>Postma, Rudmer (ANA - LUMC)</cp:lastModifiedBy>
  <cp:revision>11</cp:revision>
  <dcterms:created xsi:type="dcterms:W3CDTF">2026-04-02T12:11:54Z</dcterms:created>
  <dcterms:modified xsi:type="dcterms:W3CDTF">2026-09-01T06:55:22Z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0x010100798E77E9BB20574C88F1A51905EBD0AF</vt:lpwstr>
  </property>
</Properties>
</file>