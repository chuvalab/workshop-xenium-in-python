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  <p:sldMasterId id="2147483811" r:id="rId5"/>
  </p:sldMasterIdLst>
  <p:notesMasterIdLst>
    <p:notesMasterId r:id="rId7"/>
  </p:notesMasterIdLst>
  <p:handoutMasterIdLst>
    <p:handoutMasterId r:id="rId8"/>
  </p:handoutMasterIdLst>
  <p:sldIdLst>
    <p:sldId id="256" r:id="rId6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es | Instructions" id="{57C8B40F-F360-4326-8328-CF1BBE953922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58"/>
    <a:srgbClr val="EAEAEA"/>
    <a:srgbClr val="F9F9F9"/>
    <a:srgbClr val="FFFFFF"/>
    <a:srgbClr val="EEF7E9"/>
    <a:srgbClr val="333333"/>
    <a:srgbClr val="C9D2EB"/>
    <a:srgbClr val="E7E6E6"/>
    <a:srgbClr val="BCD2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31" autoAdjust="0"/>
  </p:normalViewPr>
  <p:slideViewPr>
    <p:cSldViewPr snapToGrid="0">
      <p:cViewPr varScale="1">
        <p:scale>
          <a:sx n="102" d="100"/>
          <a:sy n="102" d="100"/>
        </p:scale>
        <p:origin x="132" y="210"/>
      </p:cViewPr>
      <p:guideLst>
        <p:guide orient="horz" pos="2183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14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76CE9F8C-1656-D528-4D96-E70E00ECD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6A97C3-BF6A-BA94-B29D-F8BFE3D28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92433-EB11-45DD-98F3-37F08CB289C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D7915D-0664-11B9-C5B5-B8D689556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253C22-14D2-321E-0F1C-1677015106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C976-6A8E-424E-A1B7-0A1033B579D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98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74339EEE-E176-7947-8E00-F01126ED10E4}" type="datetimeFigureOut">
              <a:rPr lang="nl-NL" smtClean="0"/>
              <a:pPr/>
              <a:t>7-7-2026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637B80C8-3308-6C4F-B1C5-C23743646DBC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253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Two mornings, 09:30-12:30. Everything is in the GitHub repo; the notebooks are the course and these slides are the connective tissue.</a:t>
            </a:r>
          </a:p>
          <a:p/>
          <a:p>
            <a:r>
              <a:t>Ask on arrival: who has clustered scRNA-seq data before? Seat mixed pairs.</a:t>
            </a:r>
          </a:p>
          <a:p/>
          <a:p>
            <a:r>
              <a:t>Set the frame immediately: the one question this workshop is built around is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 slide. The commonest failure mode in spatial transcriptomics is doing scRNA-seq with a scatter plot at the end.</a:t>
            </a:r>
          </a:p>
          <a:p/>
          <a:p>
            <a:r>
              <a:t>Ask the room for their own tissue and question - you collected these in advance. Refer back to them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 is always the same: transcriptome breadth versus spatial resolution. You cannot have both yet.</a:t>
            </a:r>
          </a:p>
          <a:p/>
          <a:p>
            <a:r>
              <a:t>Practical rule for the room: if you cannot write down the genes that answer your question, you are not ready for a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 - 3 minutes. The detail that matters downstream is that decoding and segmentation are two separate, independently fallible steps, and the negative controls in notebook 02 measure them separately.</a:t>
            </a:r>
          </a:p>
          <a:p/>
          <a:p>
            <a:r>
              <a:t>QV is Phred-style. 10x filters at QV&gt;=20 before building the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full run in Xenium Explorer here - 5 minutes, live. Zoom from the whole section down to individual transcripts. Nothing on a slide communicates the scale of this data as well.</a:t>
            </a:r>
          </a:p>
          <a:p/>
          <a:p>
            <a:r>
              <a:t>Point out where the teaching crop sits within the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layers, at three different resolutions. Most confusion in this field comes from not knowing which one you are holding.</a:t>
            </a:r>
          </a:p>
          <a:p/>
          <a:p>
            <a:r>
              <a:t>Notebook 01 opens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idea of day 1. Say it slowly.</a:t>
            </a:r>
          </a:p>
          <a:p/>
          <a:p>
            <a:r>
              <a:t>In notebook 01 they will plot transcripts with boundaries overlaid and see unassigned molecules with their own eyes. Come back to this slide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bottom-right point catches almost everyone. Running HVG selection on a curated 5K panel mostly selects the most abundant genes and discards the rare markers the panel was designed around.</a:t>
            </a:r>
          </a:p>
          <a:p/>
          <a:p>
            <a:r>
              <a:t>The counts point is the deeper one: with a few hundred counts per cell, per-cell expression of one gene is nearly binary. Aggregate across space, not within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 matters: it tells you WHICH part of the pipeline is misbehaving.</a:t>
            </a:r>
          </a:p>
          <a:p/>
          <a:p>
            <a:r>
              <a:t>The last bullet is the one that saves careers. Weakly expressed genes are the exciting ones - transcription factors, receptors - and the ones the controls tell you least to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four quadrants on the whiteboard while they run the hexbin cell.</a:t>
            </a:r>
          </a:p>
          <a:p/>
          <a:p>
            <a:r>
              <a:t>The doublet point comes up every single time. scRNA-seq doublet tools model two transcriptomes summed in a droplet. Here you have a polygon problem, and unlike in scRNA-seq you can go and look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check has no scRNA-seq equivalent - there is nowhere to plot it.</a:t>
            </a:r>
          </a:p>
          <a:p/>
          <a:p>
            <a:r>
              <a:t>Concrete example worth giving: raising min_counts from 10 to 25 preferentially deletes small, low-cytoplasm cells, i.e. lymphocytes. Every immune co-localisation result downstream then changes. This is a real source of disagreement between published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a minute on the four-way list. The scRNA-seq reflex is to treat library size as pure nuisance and divide it out. Here part of it is a real biological property of the cell, and part of it is a drawing error.</a:t>
            </a:r>
          </a:p>
          <a:p/>
          <a:p>
            <a:r>
              <a:t>The spillover component is the nastiest: it is proportional to the neighbours' expression, not the cell's, so it is spatially structured noise. No normalisation scheme removes it - only better segmentation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is defensible and every one is wrong in a specific way. Say that out loud - people want to be told the right answer and there isn't one yet.</a:t>
            </a:r>
          </a:p>
          <a:p/>
          <a:p>
            <a:r>
              <a:t>Pearson residuals are worth flagging for the stronger participants: sc.experimental.pp.normalize_pearson_residuals. They handle low counts better than log1p and avoid the scaling question entirely. We do not use them in the notebooks only because the median-scaled path is the one they will meet in other people's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3.1 makes them run the count-normalised and area-normalised clusterings and cross-tabulate. Do not give away the answer: size-discordant populations move, size-matched ones do not.</a:t>
            </a:r>
          </a:p>
          <a:p/>
          <a:p>
            <a:r>
              <a:t>The 'keep raw counts in a layer' point saves more grief than anything else on this slide. Notebook 03 does it explicitly and calls attention to it.</a:t>
            </a:r>
          </a:p>
          <a:p/>
          <a:p>
            <a:r>
              <a:t>Related question you will be asked: should I regress out total counts? Discuss - here it partly encodes cell size, which is biology, so regressing it out can remove the signal you came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panels in order; the room can follow the arrow of the argument without you reading the bullets.</a:t>
            </a:r>
          </a:p>
          <a:p/>
          <a:p>
            <a:r>
              <a:t>Note the colours only appear in panel 4. Until Leiden runs, nothing has told you there are three groups - the grey is deliberate.</a:t>
            </a:r>
          </a:p>
          <a:p/>
          <a:p>
            <a:r>
              <a:t>Two analogies that land: PCA is describing a face with a few measurements rather than every pixel. The graph is a social network - Leiden finds friendship groups, UMAP seats everyone so friends sit together.</a:t>
            </a:r>
          </a:p>
          <a:p/>
          <a:p>
            <a:r>
              <a:t>The sibling point is the one to labour: people assume Leiden clusters the UMAP, and that assumption drives most of the misreadings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row: identical cells, identical clusters, two runs of the layout. Ask the room which one is correct. Neither - and that is the point.</a:t>
            </a:r>
          </a:p>
          <a:p/>
          <a:p>
            <a:r>
              <a:t>Bottom left: the first two points are what people quietly believe and then write into figure legends. Ask whether anyone has written 'cluster 3 sits between 1 and 2, suggesting an intermediate state'. That needs a trajectory method, not a UMAP.</a:t>
            </a:r>
          </a:p>
          <a:p/>
          <a:p>
            <a:r>
              <a:t>Bottom right is the payoff and the workshop thesis in one panel: a nest, a band, a rim around the nest. Real axes, in microns, every distance a measurement. When you have this plot available, prefer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 false discovery in imaging-based spatial data, and check 3 is the one your audience is best equipped to do.</a:t>
            </a:r>
          </a:p>
          <a:p/>
          <a:p>
            <a:r>
              <a:t>Say clearly: a technical cluster is not a mistake to be ashamed of - it is information about your segmentation. The mistake is annotating it as a cell type and building a story on it.</a:t>
            </a:r>
          </a:p>
          <a:p/>
          <a:p>
            <a:r>
              <a:t>Note that regressing out total_counts is NOT the automatic fix, because here it partly encodes cell size, which is partly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PC-versus-QC correlation is the concrete diagnostic to demonstrate:</a:t>
            </a:r>
          </a:p>
          <a:p/>
          <a:p>
            <a:r>
              <a:t>  import numpy as np</a:t>
            </a:r>
          </a:p>
          <a:p>
            <a:r>
              <a:t>  for i in range(5):</a:t>
            </a:r>
          </a:p>
          <a:p>
            <a:r>
              <a:t>      r = np.corrcoef(adata.obsm['X_pca'][:, i],</a:t>
            </a:r>
          </a:p>
          <a:p>
            <a:r>
              <a:t>                      adata.obs['total_counts'])[0, 1]</a:t>
            </a:r>
          </a:p>
          <a:p>
            <a:r>
              <a:t>      print(i, round(r, 2))</a:t>
            </a:r>
          </a:p>
          <a:p/>
          <a:p>
            <a:r>
              <a:t>If PC1 correlates above ~0.6 with total_counts, go back to normalisation rather than tuning anything downstream.</a:t>
            </a:r>
          </a:p>
          <a:p/>
          <a:p>
            <a:r>
              <a:t>OUR DATASET HAS THIS PROBLEM - use it. Notebook 03 has a fix-explorer that runs six remedies and reports how much depth each removes and how much it rearranges the embedding. The punchline is that no numerical criterion picks the winner: you cluster under two schemes and plot both on the tissue, and the one that looks like histology wins. That is the workshop thesis arriving in the middle of a normalisation discussion, so do not rush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expression-versus-spatial graph confusion catches almost everyone. Draw both on the whiteboard if you have time; it is worth two minutes.</a:t>
            </a:r>
          </a:p>
          <a:p/>
          <a:p>
            <a:r>
              <a:t>On stability: adjusted Rand index across three random seeds. Below about 0.7 means the resolution is finer than the data supports.</a:t>
            </a:r>
          </a:p>
          <a:p/>
          <a:p>
            <a:r>
              <a:t>Resist giving a single 'correct' resolution. The honest answer is that it depends on the question - immune subtypes need finer than tissue compartments.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needs saying out loud: never run clustering on UMAP coordinates. UMAP distances beyond the local neighbourhood are not meaningful, and people do this surprisingly often.</a:t>
            </a:r>
          </a:p>
          <a:p/>
          <a:p>
            <a:r>
              <a:t>Step 9 is the payoff and the thing that makes this different from scRNA-seq. A clustering that produces a tissue map looking like static is wrong, no matter how clean the UMAP is.</a:t>
            </a:r>
          </a:p>
          <a:p/>
          <a:p>
            <a:r>
              <a:t>If you are short of time, this slide alone is a usable summary of day 1's second half - it is the one to leave on screen during the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day 2 by answering yesterday's sticky notes.</a:t>
            </a:r>
          </a:p>
          <a:p/>
          <a:p>
            <a:r>
              <a:t>At 10:10, everyone loads the shipped annotated object regardless of progress. Say it out loud: falling behind is expected and costs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radius-graph warning is worth dwelling on: a cell in dense lymphoid tissue gets 40 neighbours, one in loose stroma gets 2, and every per-cell statistic is then confounded by density.</a:t>
            </a:r>
          </a:p>
          <a:p/>
          <a:p>
            <a:r>
              <a:t>In notebook 04 they draw the graph on a 200 um patch. Make them look at it - it is the object every statistic that follows runs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first z-score of 300 appears on someone's screen, use it. Ask the room what the null was.</a:t>
            </a:r>
          </a:p>
          <a:p/>
          <a:p>
            <a:r>
              <a:t>Notebook 05 builds a better null - shuffling within niche - and the z-scores collapse. That contrast is one of the most useful things in the whole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'Enriched' is a weak claim. 'Enriched within 40 um and not beyond' is a strong one, and it is a number that transfers between studies.</a:t>
            </a:r>
          </a:p>
          <a:p/>
          <a:p>
            <a:r>
              <a:t>Cut Ripley first if you are running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4.2 asks for high Moran's I with low between-cluster variance. Answers: gradients that cut across cell types.</a:t>
            </a:r>
          </a:p>
          <a:p/>
          <a:p>
            <a:r>
              <a:t>Warn them: technical gradients do this too. Check the pattern is not a stripe before getting excited.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this particular audience outperforms a bioinformatics room. Lean into it hard.</a:t>
            </a:r>
          </a:p>
          <a:p/>
          <a:p>
            <a:r>
              <a:t>On choosing K: no statistically correct answer. Keep the largest K at which every niche is still nameable as a structure you could point to on a slide. Check stability across seeds with 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Anyone telling you one replaces the other is selling something.</a:t>
            </a:r>
          </a:p>
          <a:p/>
          <a:p>
            <a:r>
              <a:t>This slide is the summary of notebook 05. If you only have time for one slide on day 2, it is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bullet is the most common analytical error in this style of paper: reporting a marginal association with one distance when two are correlated.</a:t>
            </a:r>
          </a:p>
          <a:p/>
          <a:p>
            <a:r>
              <a:t>Protect this section - never cut it. It is the clearest demonstration of the workshop's central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development or regeneration group this is often the slide that changes what they plan to do.</a:t>
            </a:r>
          </a:p>
          <a:p/>
          <a:p>
            <a:r>
              <a:t>Treat it as comparative across genes, never as an absolute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 2 is the one this audience has never met: it is invisible in the DAPI image because one nucleus sits above the other. Section 4 of notebook 05 is optional and detects it.</a:t>
            </a:r>
          </a:p>
          <a:p/>
          <a:p>
            <a:r>
              <a:t>Number 4 is subtle and worth ten minutes. The check: is the difference in genes the NEIGHBOURS express (spillover) or in genes the neighbours do not express (a real state change)? Only the second is convincing.</a:t>
            </a:r>
          </a:p>
          <a:p/>
          <a:p>
            <a:r>
              <a:t>Number 1 is the cheapest sanity check in the field and almost nobody 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 question is the one that sinks projects. Aggregate to a per-sample value, then test across samples. If that leaves n=3 per group, better to know now.</a:t>
            </a:r>
          </a:p>
          <a:p/>
          <a:p>
            <a:r>
              <a:t>Point them at SASC and the Cell Observatory for study design consultation - before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Xenium Explorer is the one to push hardest. Ten minutes of browsing their own data will teach them more about artefacts than an hour of slides.</a:t>
            </a:r>
          </a:p>
          <a:p/>
          <a:p>
            <a:r>
              <a:t>The SASC point matters: study design consultation is far cheaper before instrument time is booked.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feedback on paper, three questions: what will you do differently; what was too fast or too slow; what did you expect to learn and did not.</a:t>
            </a:r>
          </a:p>
          <a:p/>
          <a:p>
            <a:r>
              <a:t>The third question is the one that improves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ringen | With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ngen  | Rings" descr="Afbeelding met cirkel, astronomie, kunst&#10;&#10;Door AI gegenereerde inhoud is mogelijk onjuist.">
            <a:extLst>
              <a:ext uri="{FF2B5EF4-FFF2-40B4-BE49-F238E27FC236}">
                <a16:creationId xmlns:a16="http://schemas.microsoft.com/office/drawing/2014/main" id="{2B8CC4EC-6F14-EB4B-2CCE-011FD848AA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1"/>
            <a:ext cx="10088046" cy="6857433"/>
          </a:xfrm>
          <a:prstGeom prst="rect">
            <a:avLst/>
          </a:prstGeom>
        </p:spPr>
      </p:pic>
      <p:sp>
        <p:nvSpPr>
          <p:cNvPr id="2" name="Titelachtergrond | Title background">
            <a:extLst>
              <a:ext uri="{FF2B5EF4-FFF2-40B4-BE49-F238E27FC236}">
                <a16:creationId xmlns:a16="http://schemas.microsoft.com/office/drawing/2014/main" id="{06A374E3-2136-8ECB-CEAB-D18BA8E40FB1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ndertitel | Subtitle">
            <a:extLst>
              <a:ext uri="{FF2B5EF4-FFF2-40B4-BE49-F238E27FC236}">
                <a16:creationId xmlns:a16="http://schemas.microsoft.com/office/drawing/2014/main" id="{0B62575E-DF3C-6BB5-20F5-AA3588ADF8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="0" i="0" kern="1200" baseline="0" dirty="0">
                <a:solidFill>
                  <a:srgbClr val="BCD2FF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7" name="Titel | Title">
            <a:extLst>
              <a:ext uri="{FF2B5EF4-FFF2-40B4-BE49-F238E27FC236}">
                <a16:creationId xmlns:a16="http://schemas.microsoft.com/office/drawing/2014/main" id="{757E5638-38C2-5190-9D25-B388016DD4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94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ringen | Without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achtergrond | Title background">
            <a:extLst>
              <a:ext uri="{FF2B5EF4-FFF2-40B4-BE49-F238E27FC236}">
                <a16:creationId xmlns:a16="http://schemas.microsoft.com/office/drawing/2014/main" id="{4BF0381E-64FF-E4F7-BD58-236B750EA198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ndertitel | Subtitle">
            <a:extLst>
              <a:ext uri="{FF2B5EF4-FFF2-40B4-BE49-F238E27FC236}">
                <a16:creationId xmlns:a16="http://schemas.microsoft.com/office/drawing/2014/main" id="{81FE288D-BC76-D2E8-7E63-13602DBEC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3" name="Titel | Title">
            <a:extLst>
              <a:ext uri="{FF2B5EF4-FFF2-40B4-BE49-F238E27FC236}">
                <a16:creationId xmlns:a16="http://schemas.microsoft.com/office/drawing/2014/main" id="{510BC5AA-CA89-2FCB-B262-4D5946378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982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fbeelding | No imag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43331" y="4321694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 | Title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1829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2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erdere logo's | Multiple logos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3">
            <a:extLst>
              <a:ext uri="{FF2B5EF4-FFF2-40B4-BE49-F238E27FC236}">
                <a16:creationId xmlns:a16="http://schemas.microsoft.com/office/drawing/2014/main" id="{B1D7F52C-D248-4FDE-5E63-045149F50E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84034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1" name="Logo 2">
            <a:extLst>
              <a:ext uri="{FF2B5EF4-FFF2-40B4-BE49-F238E27FC236}">
                <a16:creationId xmlns:a16="http://schemas.microsoft.com/office/drawing/2014/main" id="{273FD905-044D-55D4-79DE-675229D97A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52200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559B194D-62F5-CD40-99D6-F7F3A2B0B8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845" y="3285360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4" name="Titel | Title">
            <a:extLst>
              <a:ext uri="{FF2B5EF4-FFF2-40B4-BE49-F238E27FC236}">
                <a16:creationId xmlns:a16="http://schemas.microsoft.com/office/drawing/2014/main" id="{FF85C9EA-CA51-5575-F1CB-303A00E2F4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6343" y="62011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17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boogelement | With arc el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| Subtitle">
            <a:extLst>
              <a:ext uri="{FF2B5EF4-FFF2-40B4-BE49-F238E27FC236}">
                <a16:creationId xmlns:a16="http://schemas.microsoft.com/office/drawing/2014/main" id="{F49FADBE-8919-6039-4BBB-42334647D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noFill/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001158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6" name="Titel | Title">
            <a:extLst>
              <a:ext uri="{FF2B5EF4-FFF2-40B4-BE49-F238E27FC236}">
                <a16:creationId xmlns:a16="http://schemas.microsoft.com/office/drawing/2014/main" id="{06D15347-39FC-2BC0-D79C-3FDC06831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noFill/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rgbClr val="001158"/>
                </a:solidFill>
              </a:defRPr>
            </a:lvl1pPr>
          </a:lstStyle>
          <a:p>
            <a:pPr lvl="0"/>
            <a:r>
              <a:rPr lang="nl-NL" dirty="0"/>
              <a:t>Tekst |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AFBD849F-165F-60B3-8C73-100A2E36EB06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6124575" cy="6858000"/>
          </a:xfrm>
          <a:custGeom>
            <a:avLst/>
            <a:gdLst>
              <a:gd name="csX0" fmla="*/ 5487683 w 6124575"/>
              <a:gd name="csY0" fmla="*/ 0 h 6858000"/>
              <a:gd name="csX1" fmla="*/ 5917563 w 6124575"/>
              <a:gd name="csY1" fmla="*/ 0 h 6858000"/>
              <a:gd name="csX2" fmla="*/ 5913999 w 6124575"/>
              <a:gd name="csY2" fmla="*/ 6153 h 6858000"/>
              <a:gd name="csX3" fmla="*/ 5961575 w 6124575"/>
              <a:gd name="csY3" fmla="*/ 6581852 h 6858000"/>
              <a:gd name="csX4" fmla="*/ 6124575 w 6124575"/>
              <a:gd name="csY4" fmla="*/ 6858000 h 6858000"/>
              <a:gd name="csX5" fmla="*/ 5694695 w 6124575"/>
              <a:gd name="csY5" fmla="*/ 6858000 h 6858000"/>
              <a:gd name="csX6" fmla="*/ 5531694 w 6124575"/>
              <a:gd name="csY6" fmla="*/ 6581852 h 6858000"/>
              <a:gd name="csX7" fmla="*/ 5484119 w 6124575"/>
              <a:gd name="csY7" fmla="*/ 6153 h 6858000"/>
              <a:gd name="csX8" fmla="*/ 0 w 6124575"/>
              <a:gd name="csY8" fmla="*/ 0 h 6858000"/>
              <a:gd name="csX9" fmla="*/ 4486275 w 6124575"/>
              <a:gd name="csY9" fmla="*/ 0 h 6858000"/>
              <a:gd name="csX10" fmla="*/ 4505325 w 6124575"/>
              <a:gd name="csY10" fmla="*/ 0 h 6858000"/>
              <a:gd name="csX11" fmla="*/ 5478471 w 6124575"/>
              <a:gd name="csY11" fmla="*/ 0 h 6858000"/>
              <a:gd name="csX12" fmla="*/ 5474907 w 6124575"/>
              <a:gd name="csY12" fmla="*/ 6153 h 6858000"/>
              <a:gd name="csX13" fmla="*/ 5522483 w 6124575"/>
              <a:gd name="csY13" fmla="*/ 6581852 h 6858000"/>
              <a:gd name="csX14" fmla="*/ 5685484 w 6124575"/>
              <a:gd name="csY14" fmla="*/ 6858000 h 6858000"/>
              <a:gd name="csX15" fmla="*/ 4505325 w 6124575"/>
              <a:gd name="csY15" fmla="*/ 6858000 h 6858000"/>
              <a:gd name="csX16" fmla="*/ 4486275 w 6124575"/>
              <a:gd name="csY16" fmla="*/ 6858000 h 6858000"/>
              <a:gd name="csX17" fmla="*/ 4253188 w 6124575"/>
              <a:gd name="csY17" fmla="*/ 6858000 h 6858000"/>
              <a:gd name="csX18" fmla="*/ 4253188 w 6124575"/>
              <a:gd name="csY18" fmla="*/ 6846325 h 6858000"/>
              <a:gd name="csX19" fmla="*/ 4115224 w 6124575"/>
              <a:gd name="csY19" fmla="*/ 6591055 h 6858000"/>
              <a:gd name="csX20" fmla="*/ 1827972 w 6124575"/>
              <a:gd name="csY20" fmla="*/ 5019124 h 6858000"/>
              <a:gd name="csX21" fmla="*/ 5461 w 6124575"/>
              <a:gd name="csY21" fmla="*/ 5574608 h 6858000"/>
              <a:gd name="csX22" fmla="*/ 546 w 6124575"/>
              <a:gd name="csY22" fmla="*/ 3403345 h 6858000"/>
              <a:gd name="csX23" fmla="*/ 0 w 6124575"/>
              <a:gd name="csY23" fmla="*/ 3270517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124575" h="6858000">
                <a:moveTo>
                  <a:pt x="5487683" y="0"/>
                </a:moveTo>
                <a:lnTo>
                  <a:pt x="5917563" y="0"/>
                </a:lnTo>
                <a:lnTo>
                  <a:pt x="5913999" y="6153"/>
                </a:lnTo>
                <a:cubicBezTo>
                  <a:pt x="5247669" y="1188468"/>
                  <a:pt x="4375232" y="3761764"/>
                  <a:pt x="5961575" y="6581852"/>
                </a:cubicBezTo>
                <a:lnTo>
                  <a:pt x="6124575" y="6858000"/>
                </a:lnTo>
                <a:lnTo>
                  <a:pt x="5694695" y="6858000"/>
                </a:lnTo>
                <a:lnTo>
                  <a:pt x="5531694" y="6581852"/>
                </a:lnTo>
                <a:cubicBezTo>
                  <a:pt x="3945351" y="3761764"/>
                  <a:pt x="4817789" y="1188468"/>
                  <a:pt x="5484119" y="6153"/>
                </a:cubicBezTo>
                <a:close/>
                <a:moveTo>
                  <a:pt x="0" y="0"/>
                </a:moveTo>
                <a:lnTo>
                  <a:pt x="4486275" y="0"/>
                </a:lnTo>
                <a:lnTo>
                  <a:pt x="4505325" y="0"/>
                </a:lnTo>
                <a:lnTo>
                  <a:pt x="5478471" y="0"/>
                </a:lnTo>
                <a:lnTo>
                  <a:pt x="5474907" y="6153"/>
                </a:lnTo>
                <a:cubicBezTo>
                  <a:pt x="4808578" y="1188468"/>
                  <a:pt x="3936140" y="3761764"/>
                  <a:pt x="5522483" y="6581852"/>
                </a:cubicBezTo>
                <a:lnTo>
                  <a:pt x="5685484" y="6858000"/>
                </a:lnTo>
                <a:lnTo>
                  <a:pt x="4505325" y="6858000"/>
                </a:lnTo>
                <a:lnTo>
                  <a:pt x="4486275" y="6858000"/>
                </a:lnTo>
                <a:lnTo>
                  <a:pt x="4253188" y="6858000"/>
                </a:lnTo>
                <a:lnTo>
                  <a:pt x="4253188" y="6846325"/>
                </a:lnTo>
                <a:lnTo>
                  <a:pt x="4115224" y="6591055"/>
                </a:lnTo>
                <a:cubicBezTo>
                  <a:pt x="3379343" y="5325554"/>
                  <a:pt x="2437778" y="5079864"/>
                  <a:pt x="1827972" y="5019124"/>
                </a:cubicBezTo>
                <a:cubicBezTo>
                  <a:pt x="1177513" y="4954336"/>
                  <a:pt x="448113" y="5230191"/>
                  <a:pt x="5461" y="5574608"/>
                </a:cubicBezTo>
                <a:cubicBezTo>
                  <a:pt x="5092" y="4720154"/>
                  <a:pt x="3030" y="4039966"/>
                  <a:pt x="546" y="3403345"/>
                </a:cubicBezTo>
                <a:lnTo>
                  <a:pt x="0" y="3270517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3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titel | Closing titl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30415" y="4141700"/>
            <a:ext cx="6712642" cy="106182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ctr">
              <a:defRPr lang="nl-NL" sz="35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8913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Eindtitel | </a:t>
            </a:r>
            <a:r>
              <a:rPr lang="nl-NL" dirty="0" err="1"/>
              <a:t>Closing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158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53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1301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a"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DB96C91C-E0D4-EC11-3F8B-CAE7339B82E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438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961FC177-D146-B3C7-089B-2F0BF5E5ABA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11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4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3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2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chtergrond |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p | Heading">
            <a:extLst>
              <a:ext uri="{FF2B5EF4-FFF2-40B4-BE49-F238E27FC236}">
                <a16:creationId xmlns:a16="http://schemas.microsoft.com/office/drawing/2014/main" id="{E04281C4-5487-A8A8-A808-56030A9D0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" name="Tekst | Text">
            <a:extLst>
              <a:ext uri="{FF2B5EF4-FFF2-40B4-BE49-F238E27FC236}">
                <a16:creationId xmlns:a16="http://schemas.microsoft.com/office/drawing/2014/main" id="{26083E2E-6335-9F99-8170-5E37C58D0D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109983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blokken | Two 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F2FECF-B4C3-CFF7-B2FE-C68ACD0D5E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84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028922F3-5308-9A78-B4BE-A3169311299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27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4" name="Kop | Heading">
            <a:extLst>
              <a:ext uri="{FF2B5EF4-FFF2-40B4-BE49-F238E27FC236}">
                <a16:creationId xmlns:a16="http://schemas.microsoft.com/office/drawing/2014/main" id="{534D4203-3468-03E9-7CA8-FE05BD7C5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52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sgalerij | Image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6AE0A73-380C-1B8D-3CEF-D6613C869C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925396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1" name="Tijdelijke aanduiding voor afbeelding 8">
            <a:extLst>
              <a:ext uri="{FF2B5EF4-FFF2-40B4-BE49-F238E27FC236}">
                <a16:creationId xmlns:a16="http://schemas.microsoft.com/office/drawing/2014/main" id="{8EB5FB60-14D3-EFF5-4C47-19FD919C3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304362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61D2B422-3E4E-776F-FFE9-45F0FB000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5186323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5" name="Tijdelijke aanduiding voor afbeelding 8">
            <a:extLst>
              <a:ext uri="{FF2B5EF4-FFF2-40B4-BE49-F238E27FC236}">
                <a16:creationId xmlns:a16="http://schemas.microsoft.com/office/drawing/2014/main" id="{4601F334-92E3-372C-6493-E67C385F4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7340077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7" name="Tijdelijke aanduiding voor afbeelding 8">
            <a:extLst>
              <a:ext uri="{FF2B5EF4-FFF2-40B4-BE49-F238E27FC236}">
                <a16:creationId xmlns:a16="http://schemas.microsoft.com/office/drawing/2014/main" id="{F91E3DBE-14E8-E017-7A1C-85F43E815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945280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69D8373-14CB-C760-4AB3-77C1A9C1B5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5396" y="4349325"/>
            <a:ext cx="1812262" cy="10128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400">
                <a:latin typeface="Vestula Pro" panose="020B0A03060302020204" pitchFamily="34" charset="0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lvl="0"/>
            <a:r>
              <a:rPr lang="nl-NL" dirty="0"/>
              <a:t>Onderschrift (optioneel)</a:t>
            </a:r>
          </a:p>
          <a:p>
            <a:pPr lvl="0"/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04F93ADE-5C0C-408E-7495-B8BA38C813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43624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2D8DE384-1B30-1B1D-344B-5776F2A940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7674" y="4341600"/>
            <a:ext cx="1810800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0" name="Tijdelijke aanduiding voor tekst 6">
            <a:extLst>
              <a:ext uri="{FF2B5EF4-FFF2-40B4-BE49-F238E27FC236}">
                <a16:creationId xmlns:a16="http://schemas.microsoft.com/office/drawing/2014/main" id="{25BB4D9D-2AFB-D4EC-7B5F-B7AD8A723E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40077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F9FCF455-94FF-CC07-2CE6-4B2C2B5E81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54342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939D5F5-DDB1-D692-3CCB-72A299604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925396" y="360000"/>
            <a:ext cx="103412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70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EN">
            <a:extLst>
              <a:ext uri="{FF2B5EF4-FFF2-40B4-BE49-F238E27FC236}">
                <a16:creationId xmlns:a16="http://schemas.microsoft.com/office/drawing/2014/main" id="{F060E9E6-F4FE-AF50-CB38-D7686AE6B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31497"/>
            <a:ext cx="4249280" cy="1926502"/>
          </a:xfrm>
          <a:prstGeom prst="rect">
            <a:avLst/>
          </a:prstGeom>
        </p:spPr>
      </p:pic>
      <p:pic>
        <p:nvPicPr>
          <p:cNvPr id="5" name="Logo NL" descr="Afbeelding met tekst, logo, symbool, Lettertype&#10;&#10;Door AI gegenereerde inhoud is mogelijk onjuist.">
            <a:extLst>
              <a:ext uri="{FF2B5EF4-FFF2-40B4-BE49-F238E27FC236}">
                <a16:creationId xmlns:a16="http://schemas.microsoft.com/office/drawing/2014/main" id="{48115860-2C01-1CEF-6C22-14E5BF50DD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1497"/>
            <a:ext cx="424928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5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5" r:id="rId4"/>
    <p:sldLayoutId id="2147483833" r:id="rId5"/>
    <p:sldLayoutId id="214748377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DC18183-0354-EBD2-86E1-3F4CAE22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Kop | </a:t>
            </a:r>
            <a:r>
              <a:rPr lang="nl-NL" dirty="0" err="1"/>
              <a:t>Heading</a:t>
            </a: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9AE6F7-748E-3BDB-680C-7A4BABAB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9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39" r:id="rId3"/>
    <p:sldLayoutId id="2147483820" r:id="rId4"/>
    <p:sldLayoutId id="2147483822" r:id="rId5"/>
    <p:sldLayoutId id="2147483845" r:id="rId6"/>
    <p:sldLayoutId id="2147483838" r:id="rId7"/>
    <p:sldLayoutId id="2147483843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b="0" i="0" kern="1200" dirty="0">
          <a:solidFill>
            <a:srgbClr val="0C2577"/>
          </a:solidFill>
          <a:latin typeface="Merriweather" pitchFamily="2" charset="77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hands-on introduction</a:t>
            </a:r>
          </a:p>
          <a:p>
            <a:r>
              <a:t>Department of Anatomy &amp; Embryology, LUMC  ·  two mornings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Spatial transcriptomics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b="1" sz="1800"/>
              <a:t>What can you learn from a tissue section that you fundamentally cannot learn from dissociated cells?</a:t>
            </a:r>
          </a:p>
          <a:p>
            <a:pPr>
              <a:spcAft>
                <a:spcPts val="1400"/>
              </a:spcAft>
            </a:pPr>
            <a:r>
              <a:rPr b="0" sz="1800"/>
              <a:t>Everything we do maps back to this.</a:t>
            </a:r>
          </a:p>
          <a:p>
            <a:pPr>
              <a:spcAft>
                <a:spcPts val="1400"/>
              </a:spcAft>
            </a:pPr>
            <a:r>
              <a:rPr b="0" sz="1800"/>
              <a:t>Day 1 — what the data is, and how much of it you should believe</a:t>
            </a:r>
          </a:p>
          <a:p>
            <a:pPr>
              <a:spcAft>
                <a:spcPts val="1400"/>
              </a:spcAft>
            </a:pPr>
            <a:r>
              <a:rPr b="0" sz="1800"/>
              <a:t>Day 2 — using the coordinates for things scRNA-seq cannot do</a:t>
            </a:r>
          </a:p>
          <a:p>
            <a:pPr>
              <a:spcAft>
                <a:spcPts val="1400"/>
              </a:spcAft>
            </a:pPr>
            <a:r>
              <a:rPr b="0" sz="1800"/>
              <a:t>You will leave able to design your own experiment, and to referee somebody else's.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question, two mornings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buNone/>
            </a:pPr>
            <a:r>
              <a:rPr b="1" sz="1500"/>
              <a:t>Sequencing-based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Visium, Visium HD, Slide-seq, Stereo-seq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Whole transcriptome, unbiased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Resolution is a spot or a bin, not a cell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Cell boundaries must be inferred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Good for: discovery, unknown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buNone/>
            </a:pPr>
            <a:r>
              <a:rPr b="1" sz="1500"/>
              <a:t>Imaging-based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Xenium, MERFISH / Vizgen, CosMx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Fixed panel — 300 to 5,000 genes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True single-cell, sub-cellular molecules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Cell boundaries segmented from stains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Good for: quantifying known biology in place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families of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b="0" sz="1700"/>
              <a:t>1.  Padlock probes bind their target mRNA in the fixed section</a:t>
            </a:r>
          </a:p>
          <a:p>
            <a:pPr>
              <a:spcAft>
                <a:spcPts val="1200"/>
              </a:spcAft>
              <a:buNone/>
            </a:pPr>
            <a:r>
              <a:rPr b="0" sz="1700"/>
              <a:t>2.  Ligation, then rolling-circle amplification makes a bright dot</a:t>
            </a:r>
          </a:p>
          <a:p>
            <a:pPr>
              <a:spcAft>
                <a:spcPts val="1200"/>
              </a:spcAft>
              <a:buNone/>
            </a:pPr>
            <a:r>
              <a:rPr b="0" sz="1700"/>
              <a:t>3.  Cyclic fluorescence imaging reads out a colour sequence per dot</a:t>
            </a:r>
          </a:p>
          <a:p>
            <a:pPr>
              <a:spcAft>
                <a:spcPts val="1200"/>
              </a:spcAft>
              <a:buNone/>
            </a:pPr>
            <a:r>
              <a:rPr b="0" sz="1700"/>
              <a:t>4.  The colour sequence is decoded to a gene — with a confidence, QV</a:t>
            </a:r>
          </a:p>
          <a:p>
            <a:pPr>
              <a:spcAft>
                <a:spcPts val="1200"/>
              </a:spcAft>
              <a:buNone/>
            </a:pPr>
            <a:r>
              <a:rPr b="0" sz="1700"/>
              <a:t>5.  Nuclei and cell boundaries are segmented from DAPI and boundary stains</a:t>
            </a:r>
          </a:p>
          <a:p>
            <a:pPr>
              <a:spcAft>
                <a:spcPts val="1200"/>
              </a:spcAft>
              <a:buNone/>
            </a:pPr>
            <a:r>
              <a:rPr b="0" sz="1700"/>
              <a:t>6.  Each transcript is assigned to whichever polygon it falls inside</a:t>
            </a:r>
          </a:p>
          <a:p>
            <a:pPr>
              <a:spcAft>
                <a:spcPts val="1200"/>
              </a:spcAft>
              <a:buNone/>
            </a:pPr>
            <a:r>
              <a:rPr b="1" sz="1700"/>
              <a:t>Steps 5 and 6 are where nearly every artefact is born.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Xenium measures a transcript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1" sz="1700"/>
              <a:t>Xenium Prime 5K — human ovarian cancer, FFPE</a:t>
            </a:r>
          </a:p>
          <a:p>
            <a:pPr>
              <a:spcAft>
                <a:spcPts val="1000"/>
              </a:spcAft>
            </a:pPr>
            <a:r>
              <a:rPr b="0" sz="1700"/>
              <a:t>~5,000 gene panel plus several classes of control codeword</a:t>
            </a:r>
          </a:p>
          <a:p>
            <a:pPr>
              <a:spcAft>
                <a:spcPts val="1000"/>
              </a:spcAft>
            </a:pPr>
            <a:r>
              <a:rPr b="0" sz="1700"/>
              <a:t>Multimodal segmentation: DAPI plus boundary stains (18S, ATP1A1, aCD45, E-cadherin)</a:t>
            </a:r>
          </a:p>
          <a:p>
            <a:pPr>
              <a:spcAft>
                <a:spcPts val="1000"/>
              </a:spcAft>
            </a:pPr>
            <a:r>
              <a:rPr b="0" sz="1700"/>
              <a:t>You have a spatial crop, roughly 1.5 x 1.5 mm — a contiguous rectangle, not a random sample of cells</a:t>
            </a:r>
          </a:p>
          <a:p>
            <a:pPr>
              <a:spcAft>
                <a:spcPts val="1000"/>
              </a:spcAft>
            </a:pPr>
            <a:r>
              <a:rPr b="0" sz="1700"/>
              <a:t>Why contiguous: every neighbourhood statistic on day 2 needs all the neighbours of every cell</a:t>
            </a:r>
          </a:p>
          <a:p>
            <a:pPr>
              <a:spcAft>
                <a:spcPts val="1000"/>
              </a:spcAft>
            </a:pPr>
            <a:r>
              <a:rPr b="0" sz="1700"/>
              <a:t>The full run is tens of gigabytes and will not open on your laptop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dataset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comes out of the instrument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1" sz="1600"/>
              <a:t>Counts</a:t>
            </a:r>
            <a:r>
              <a:rPr b="0" sz="1600"/>
              <a:t>  ·  cell_feature_matrix.h5  ·  one cell x gene count</a:t>
            </a:r>
          </a:p>
          <a:p>
            <a:pPr>
              <a:spcAft>
                <a:spcPts val="1000"/>
              </a:spcAft>
            </a:pPr>
            <a:r>
              <a:rPr b="1" sz="1600"/>
              <a:t>Cell metadata</a:t>
            </a:r>
            <a:r>
              <a:rPr b="0" sz="1600"/>
              <a:t>  ·  cells.parquet  ·  centroid, area, control counts</a:t>
            </a:r>
          </a:p>
          <a:p>
            <a:pPr>
              <a:spcAft>
                <a:spcPts val="1000"/>
              </a:spcAft>
            </a:pPr>
            <a:r>
              <a:rPr b="1" sz="1600"/>
              <a:t>Transcripts</a:t>
            </a:r>
            <a:r>
              <a:rPr b="0" sz="1600"/>
              <a:t>  ·  transcripts.parquet  ·  one row per decoded molecule: x, y, z, gene, QV, cell</a:t>
            </a:r>
          </a:p>
          <a:p>
            <a:pPr>
              <a:spcAft>
                <a:spcPts val="1000"/>
              </a:spcAft>
            </a:pPr>
            <a:r>
              <a:rPr b="1" sz="1600"/>
              <a:t>Segmentation</a:t>
            </a:r>
            <a:r>
              <a:rPr b="0" sz="1600"/>
              <a:t>  ·  cell_ and nucleus_boundaries.parquet  ·  polygon vertices</a:t>
            </a:r>
          </a:p>
          <a:p>
            <a:pPr>
              <a:spcAft>
                <a:spcPts val="1000"/>
              </a:spcAft>
            </a:pPr>
            <a:r>
              <a:rPr b="1" sz="1600"/>
              <a:t>Morphology</a:t>
            </a:r>
            <a:r>
              <a:rPr b="0" sz="1600"/>
              <a:t>  ·  morphology_focus/*.ome.tif  ·  ~0.2 µm per pixel</a:t>
            </a:r>
          </a:p>
          <a:p>
            <a:pPr>
              <a:spcAft>
                <a:spcPts val="1000"/>
              </a:spcAft>
            </a:pPr>
            <a:r>
              <a:rPr b="0" sz="1600"/>
              <a:t>Plus experiment.xenium, gene_panel.json, metrics_summary.csv, and 10x's own clustering in analysis/ — a first look, never an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1" sz="1700"/>
              <a:t>It exists because somebody drew polygons around nuclei and assigned molecules to them.</a:t>
            </a:r>
          </a:p>
          <a:p>
            <a:pPr>
              <a:spcAft>
                <a:spcPts val="1000"/>
              </a:spcAft>
            </a:pPr>
            <a:r>
              <a:rPr b="0" sz="1700"/>
              <a:t>Typically 10–40% of transcripts are assigned to no cell at all</a:t>
            </a:r>
          </a:p>
          <a:p>
            <a:pPr>
              <a:spcAft>
                <a:spcPts val="1000"/>
              </a:spcAft>
            </a:pPr>
            <a:r>
              <a:rPr b="0" sz="1700"/>
              <a:t>The unassigned fraction differs by gene — so segmentation loss is a gene-specific bias, not just lost sensitivity</a:t>
            </a:r>
          </a:p>
          <a:p>
            <a:pPr>
              <a:spcAft>
                <a:spcPts val="1000"/>
              </a:spcAft>
            </a:pPr>
            <a:r>
              <a:rPr b="0" sz="1700"/>
              <a:t>A molecule on a boundary goes to whichever polygon the pipeline drew</a:t>
            </a:r>
          </a:p>
          <a:p>
            <a:pPr>
              <a:spcAft>
                <a:spcPts val="1000"/>
              </a:spcAft>
            </a:pPr>
            <a:r>
              <a:rPr b="0" sz="1700"/>
              <a:t>Every layer below the matrix is closer to the measurement</a:t>
            </a:r>
          </a:p>
          <a:p>
            <a:pPr>
              <a:spcAft>
                <a:spcPts val="1000"/>
              </a:spcAft>
            </a:pPr>
            <a:r>
              <a:rPr b="0" sz="1700"/>
              <a:t>If a result changes when you re-segment, it was a segmentation result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count matrix is a derived product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buNone/>
            </a:pPr>
            <a:r>
              <a:rPr b="1" sz="1500"/>
              <a:t>What carries over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AnnData, scanpy, the whole pipeline shape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Normalise, reduce, cluster, find markers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Marker-based annotation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The habit of looking before believing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buNone/>
            </a:pPr>
            <a:r>
              <a:rPr b="1" sz="1500"/>
              <a:t>What does not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Whole transcriptome → a fixed panel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Thousands of counts per cell → hundreds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Droplet defines the cell → a polygon does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Doublet detection tools do not apply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Ambient soup → spillover, spatially structured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No highly-variable-gene step: the panel already chose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Coming from single-cell RNA-seq?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700"/>
              <a:t>Negative control probe — targets a sequence not in the tissue. Fires only on non-specific binding → measures chemistry</a:t>
            </a:r>
          </a:p>
          <a:p>
            <a:pPr>
              <a:spcAft>
                <a:spcPts val="1000"/>
              </a:spcAft>
            </a:pPr>
            <a:r>
              <a:rPr b="0" sz="1700"/>
              <a:t>Negative control codeword — a codeword no probe uses. Fires only on decoding error → measures optics</a:t>
            </a:r>
          </a:p>
          <a:p>
            <a:pPr>
              <a:spcAft>
                <a:spcPts val="1000"/>
              </a:spcAft>
            </a:pPr>
            <a:r>
              <a:rPr b="0" sz="1700"/>
              <a:t>Unassigned codeword — decoded to something not on the panel</a:t>
            </a:r>
          </a:p>
          <a:p>
            <a:pPr>
              <a:spcAft>
                <a:spcPts val="1000"/>
              </a:spcAft>
            </a:pPr>
            <a:r>
              <a:rPr b="0" sz="1700"/>
              <a:t>Compare per feature, not in total: there are far fewer controls than genes</a:t>
            </a:r>
          </a:p>
          <a:p>
            <a:pPr>
              <a:spcAft>
                <a:spcPts val="1000"/>
              </a:spcAft>
            </a:pPr>
            <a:r>
              <a:rPr b="1" sz="1700"/>
              <a:t>A gene sitting inside the control distribution is not measurable in your dataset — no matter how much you want it to be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1 — the controls measure your background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700"/>
              <a:t>Plot transcripts per cell against cell area, both on log scales</a:t>
            </a:r>
          </a:p>
          <a:p>
            <a:pPr>
              <a:spcAft>
                <a:spcPts val="1000"/>
              </a:spcAft>
            </a:pPr>
            <a:r>
              <a:rPr b="0" sz="1700"/>
              <a:t>Small and empty  →  debris, or a nucleus clipped by the section plane</a:t>
            </a:r>
          </a:p>
          <a:p>
            <a:pPr>
              <a:spcAft>
                <a:spcPts val="1000"/>
              </a:spcAft>
            </a:pPr>
            <a:r>
              <a:rPr b="0" sz="1700"/>
              <a:t>Large and rich  →  two cells in one polygon: the spatial doublet</a:t>
            </a:r>
          </a:p>
          <a:p>
            <a:pPr>
              <a:spcAft>
                <a:spcPts val="1000"/>
              </a:spcAft>
            </a:pPr>
            <a:r>
              <a:rPr b="0" sz="1700"/>
              <a:t>Large and empty  →  a polygon drawn over extracellular space</a:t>
            </a:r>
          </a:p>
          <a:p>
            <a:pPr>
              <a:spcAft>
                <a:spcPts val="1000"/>
              </a:spcAft>
            </a:pPr>
            <a:r>
              <a:rPr b="0" sz="1700"/>
              <a:t>Nucleus/cell area piling up at 1.0  →  the segmentation gave that cell no cytoplasm</a:t>
            </a:r>
          </a:p>
          <a:p>
            <a:pPr>
              <a:spcAft>
                <a:spcPts val="1000"/>
              </a:spcAft>
            </a:pPr>
            <a:r>
              <a:rPr b="1" sz="1700"/>
              <a:t>Do not run scrublet or DoubletFinder here. This is a geometric failure and the fix is geometric.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2 — segmentation failure has a shape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3 — the step everyone skips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1" sz="1600"/>
              <a:t>Put every QC metric back on the tissue and look at it.</a:t>
            </a:r>
          </a:p>
          <a:p>
            <a:pPr>
              <a:spcAft>
                <a:spcPts val="1000"/>
              </a:spcAft>
            </a:pPr>
            <a:r>
              <a:rPr b="0" sz="1600"/>
              <a:t>Straight edges, stripes, a grid  →  field-of-view stitching. Technical.</a:t>
            </a:r>
          </a:p>
          <a:p>
            <a:pPr>
              <a:spcAft>
                <a:spcPts val="1000"/>
              </a:spcAft>
            </a:pPr>
            <a:r>
              <a:rPr b="0" sz="1600"/>
              <a:t>A smooth gradient across the section  →  focus, thickness, permeabilisation</a:t>
            </a:r>
          </a:p>
          <a:p>
            <a:pPr>
              <a:spcAft>
                <a:spcPts val="1000"/>
              </a:spcAft>
            </a:pPr>
            <a:r>
              <a:rPr b="0" sz="1600"/>
              <a:t>A soft-edged blob of low counts  →  probably real: necrosis, dense collagen</a:t>
            </a:r>
          </a:p>
          <a:p>
            <a:pPr>
              <a:spcAft>
                <a:spcPts val="1000"/>
              </a:spcAft>
            </a:pPr>
            <a:r>
              <a:rPr b="0" sz="1600"/>
              <a:t>Anything following a fold or tear  →  exclude the region explicitly, rather than letting a count threshold do it invisibly</a:t>
            </a:r>
          </a:p>
          <a:p>
            <a:pPr>
              <a:spcAft>
                <a:spcPts val="1000"/>
              </a:spcAft>
            </a:pPr>
            <a:r>
              <a:rPr b="1" sz="1600"/>
              <a:t>Then ask the real question: do the cells my filter removed form a structure? If so, that is not a quality filter, it is a biology filter.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b="0" sz="1500"/>
              <a:t>In scRNA-seq, total counts per cell vary mostly with capture efficiency and RNA content. A droplet has no size.</a:t>
            </a:r>
          </a:p>
          <a:p>
            <a:pPr>
              <a:spcAft>
                <a:spcPts val="900"/>
              </a:spcAft>
            </a:pPr>
            <a:r>
              <a:rPr b="1" sz="1500"/>
              <a:t>Here a cell's total count is a mixture of at least four things:</a:t>
            </a:r>
          </a:p>
          <a:p>
            <a:pPr lvl="1">
              <a:spcAft>
                <a:spcPts val="900"/>
              </a:spcAft>
            </a:pPr>
            <a:r>
              <a:rPr b="0" sz="1500"/>
              <a:t>how transcriptionally active the cell actually is</a:t>
            </a:r>
          </a:p>
          <a:p>
            <a:pPr lvl="1">
              <a:spcAft>
                <a:spcPts val="900"/>
              </a:spcAft>
            </a:pPr>
            <a:r>
              <a:rPr b="0" sz="1500"/>
              <a:t>how big the polygon somebody drew around it is</a:t>
            </a:r>
          </a:p>
          <a:p>
            <a:pPr lvl="1">
              <a:spcAft>
                <a:spcPts val="900"/>
              </a:spcAft>
            </a:pPr>
            <a:r>
              <a:rPr b="0" sz="1500"/>
              <a:t>how much signal leaked in from its neighbours</a:t>
            </a:r>
          </a:p>
          <a:p>
            <a:pPr lvl="1">
              <a:spcAft>
                <a:spcPts val="900"/>
              </a:spcAft>
            </a:pPr>
            <a:r>
              <a:rPr b="0" sz="1500"/>
              <a:t>how well that part of the section was fixed, permeabilised and focused</a:t>
            </a:r>
          </a:p>
          <a:p>
            <a:pPr>
              <a:spcAft>
                <a:spcPts val="900"/>
              </a:spcAft>
            </a:pPr>
            <a:r>
              <a:rPr b="0" sz="1500"/>
              <a:t>The second one is new, and it is measured: cell_area sits in obs and correlates strongly with total_counts.</a:t>
            </a:r>
          </a:p>
          <a:p>
            <a:pPr>
              <a:spcAft>
                <a:spcPts val="900"/>
              </a:spcAft>
            </a:pPr>
            <a:r>
              <a:rPr b="1" sz="1500"/>
              <a:t>So the question is not just 'how do I scale' — it is 'which of these do I want to keep'. Cell size is partly biology.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normalisation is harder here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b="1" sz="1400"/>
              <a:t>Median-scaled counts</a:t>
            </a:r>
            <a:r>
              <a:rPr b="0" sz="1400"/>
              <a:t> — scanpy's normalize_total default. Assumes total count tracks activity. Familiar, safe, and what most papers do.</a:t>
            </a:r>
          </a:p>
          <a:p>
            <a:pPr lvl="1">
              <a:spcAft>
                <a:spcPts val="700"/>
              </a:spcAft>
            </a:pPr>
            <a:r>
              <a:rPr b="0" sz="1400"/>
              <a:t>Breaks when the populations you compare differ in size.</a:t>
            </a:r>
          </a:p>
          <a:p>
            <a:pPr>
              <a:spcAft>
                <a:spcPts val="700"/>
              </a:spcAft>
            </a:pPr>
            <a:r>
              <a:rPr b="1" sz="1400"/>
              <a:t>Fixed target sum</a:t>
            </a:r>
            <a:r>
              <a:rPr b="0" sz="1400"/>
              <a:t>, e.g. 100 — makes values comparable across datasets and platforms.</a:t>
            </a:r>
          </a:p>
          <a:p>
            <a:pPr lvl="1">
              <a:spcAft>
                <a:spcPts val="700"/>
              </a:spcAft>
            </a:pPr>
            <a:r>
              <a:rPr b="0" sz="1400"/>
              <a:t>With median counts in the low hundreds, cells below the target get scaled up, and their variance with them.</a:t>
            </a:r>
          </a:p>
          <a:p>
            <a:pPr>
              <a:spcAft>
                <a:spcPts val="700"/>
              </a:spcAft>
            </a:pPr>
            <a:r>
              <a:rPr b="1" sz="1400"/>
              <a:t>Divide by cell_area</a:t>
            </a:r>
            <a:r>
              <a:rPr b="0" sz="1400"/>
              <a:t> — transcripts per µm². Treats the measurement as a density: a bigger polygon really did sample more tissue.</a:t>
            </a:r>
          </a:p>
          <a:p>
            <a:pPr lvl="1">
              <a:spcAft>
                <a:spcPts val="700"/>
              </a:spcAft>
            </a:pPr>
            <a:r>
              <a:rPr b="0" sz="1400"/>
              <a:t>Puts the segmentation error straight into the denominator.</a:t>
            </a:r>
          </a:p>
          <a:p>
            <a:pPr>
              <a:spcAft>
                <a:spcPts val="700"/>
              </a:spcAft>
            </a:pPr>
            <a:r>
              <a:rPr b="1" sz="1400"/>
              <a:t>Or model the counts directly</a:t>
            </a:r>
            <a:r>
              <a:rPr b="0" sz="1400"/>
              <a:t> — Pearson residuals (sc.experimental.pp), GLM-PCA, a negative binomial. Arguably the most principled at these depths, and increasingly common.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ways to normalise, and how each fails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decide, in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b="1" sz="1400"/>
              <a:t>Ask first: do the populations I am comparing differ in size?</a:t>
            </a:r>
            <a:r>
              <a:rPr b="0" sz="1400"/>
              <a:t> Lymphocytes versus tumour cells is the worst case; two fibroblast states is the easy one.</a:t>
            </a:r>
          </a:p>
          <a:p>
            <a:pPr>
              <a:spcAft>
                <a:spcPts val="900"/>
              </a:spcAft>
            </a:pPr>
            <a:r>
              <a:rPr b="1" sz="1400"/>
              <a:t>Run your main claim under two schemes.</a:t>
            </a:r>
            <a:r>
              <a:rPr b="0" sz="1400"/>
              <a:t> If it survives, say so in one sentence in the methods. If it flips, that is your result — you have learned the finding was about cell size.</a:t>
            </a:r>
          </a:p>
          <a:p>
            <a:pPr>
              <a:spcAft>
                <a:spcPts val="900"/>
              </a:spcAft>
            </a:pPr>
            <a:r>
              <a:rPr b="1" sz="1400"/>
              <a:t>Keep raw counts in a layer.</a:t>
            </a:r>
            <a:r>
              <a:rPr b="0" sz="1400"/>
              <a:t> Normalise, scale, cluster — then put the log-normalised values back before any marker or expression plot. Reporting numbers off a z-scaled matrix is a common and invisible error.</a:t>
            </a:r>
          </a:p>
          <a:p>
            <a:pPr>
              <a:spcAft>
                <a:spcPts val="900"/>
              </a:spcAft>
            </a:pPr>
            <a:r>
              <a:rPr b="1" sz="1400"/>
              <a:t>Take the control features out first.</a:t>
            </a:r>
            <a:r>
              <a:rPr b="0" sz="1400"/>
              <a:t> Otherwise your total_counts includes background, and you normalise by it.</a:t>
            </a:r>
          </a:p>
          <a:p>
            <a:pPr>
              <a:spcAft>
                <a:spcPts val="900"/>
              </a:spcAft>
            </a:pPr>
            <a:r>
              <a:rPr b="1" sz="1400"/>
              <a:t>log1p is still standard</a:t>
            </a:r>
            <a:r>
              <a:rPr b="0" sz="1400"/>
              <a:t>, but its variance-stabilising justification is weaker at a few hundred counts than at a few thousand.</a:t>
            </a:r>
          </a:p>
          <a:p>
            <a:pPr>
              <a:spcAft>
                <a:spcPts val="900"/>
              </a:spcAft>
            </a:pPr>
            <a:r>
              <a:rPr b="1" sz="1400"/>
              <a:t>Whatever you pick: state it, with the number. "Median-scaled, log1p" is a methods sentence. "Standard normalisation" is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PCA</a:t>
            </a:r>
            <a:r>
              <a:rPr b="0" sz="1300"/>
              <a:t> compresses 5,000 gene measurements per cell into ~50 numbers, keeping the directions along which cells differ most.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neighbour graph</a:t>
            </a:r>
            <a:r>
              <a:rPr b="1" sz="1300"/>
              <a:t> links each cell to its most similar cells. This graph is the real object.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UMAP</a:t>
            </a:r>
            <a:r>
              <a:rPr b="0" sz="1300"/>
              <a:t> draws that graph on a page. It is a picture; nothing is computed from it.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Leiden</a:t>
            </a:r>
            <a:r>
              <a:rPr b="0" sz="1300"/>
              <a:t> cuts the same graph into communities.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UMAP and Leiden are siblings, not a sequence — Leiden never sees the UMAP.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PCA, UMAP and Leiden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685" y="2037600"/>
            <a:ext cx="5060830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b="1" sz="1300"/>
              <a:t>Distance between blobs is meaningless.</a:t>
            </a:r>
            <a:r>
              <a:rPr b="0" sz="1300"/>
              <a:t> Far apart is not more different.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Blob size and shape are meaningless.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The axes have no units.</a:t>
            </a:r>
            <a:r>
              <a:rPr b="0" sz="1300"/>
              <a:t> There is no "UMAP1 is differentiation".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It changes between runs and with parameters.</a:t>
            </a:r>
          </a:p>
          <a:p>
            <a:pPr>
              <a:spcAft>
                <a:spcPts val="700"/>
              </a:spcAft>
              <a:buNone/>
            </a:pPr>
            <a:r>
              <a:rPr b="1" sz="1300"/>
              <a:t>Never cluster on UMAP coordinates.</a:t>
            </a:r>
          </a:p>
          <a:p>
            <a:pPr>
              <a:spcAft>
                <a:spcPts val="700"/>
              </a:spcAft>
              <a:buNone/>
            </a:pPr>
            <a:r>
              <a:rPr b="0" sz="1300"/>
              <a:t>Good for: spotting a split, a batch effect, a gradient, or QC metrics tracking your clusters.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UMAP will not tell you</a:t>
            </a:r>
          </a:p>
        </p:txBody>
      </p:sp>
      <p:pic>
        <p:nvPicPr>
          <p:cNvPr id="5" name="Picture 4" descr="umap_cav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042" y="2037600"/>
            <a:ext cx="505211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0" sz="1400"/>
              <a:t>Colour the UMAP by </a:t>
            </a:r>
            <a:r>
              <a:rPr b="1" sz="1400"/>
              <a:t>total_counts</a:t>
            </a:r>
            <a:r>
              <a:rPr b="0" sz="1400"/>
              <a:t> and </a:t>
            </a:r>
            <a:r>
              <a:rPr b="1" sz="1400"/>
              <a:t>cell_area</a:t>
            </a:r>
            <a:r>
              <a:rPr b="0" sz="1400"/>
              <a:t> before you colour it by cluster. If a cluster lights up on those alone, it is technical.</a:t>
            </a:r>
          </a:p>
          <a:p>
            <a:pPr>
              <a:spcAft>
                <a:spcPts val="800"/>
              </a:spcAft>
            </a:pPr>
            <a:r>
              <a:rPr b="0" sz="1400"/>
              <a:t>Why it bites harder here than in scRNA-seq: counts per cell span a few hundred, not tens of thousands, so depth is a </a:t>
            </a:r>
            <a:r>
              <a:rPr b="1" sz="1400"/>
              <a:t>large fraction</a:t>
            </a:r>
            <a:r>
              <a:rPr b="0" sz="1400"/>
              <a:t> of the total variance rather than a nuisance you can regress away.</a:t>
            </a:r>
          </a:p>
          <a:p>
            <a:pPr>
              <a:spcAft>
                <a:spcPts val="800"/>
              </a:spcAft>
            </a:pPr>
            <a:r>
              <a:rPr b="0" sz="1400"/>
              <a:t>And </a:t>
            </a:r>
            <a:r>
              <a:rPr b="1" sz="1400"/>
              <a:t>cell_area</a:t>
            </a:r>
            <a:r>
              <a:rPr b="0" sz="1400"/>
              <a:t> is a segmentation output, not a measurement of the cell. A cluster of large cells may be a cluster of bad polygons.</a:t>
            </a:r>
          </a:p>
          <a:p>
            <a:pPr>
              <a:spcAft>
                <a:spcPts val="800"/>
              </a:spcAft>
            </a:pPr>
            <a:r>
              <a:rPr b="1" sz="1400"/>
              <a:t>Four checks, in order of how quickly they settle it:</a:t>
            </a:r>
          </a:p>
          <a:p>
            <a:pPr lvl="1">
              <a:spcAft>
                <a:spcPts val="800"/>
              </a:spcAft>
            </a:pPr>
            <a:r>
              <a:rPr b="0" sz="1400"/>
              <a:t>1.  Is the cluster at an extreme of counts or area? → suspicious</a:t>
            </a:r>
          </a:p>
          <a:p>
            <a:pPr lvl="1">
              <a:spcAft>
                <a:spcPts val="800"/>
              </a:spcAft>
            </a:pPr>
            <a:r>
              <a:rPr b="0" sz="1400"/>
              <a:t>2.  Are its markers a coherent lineage, or a grab-bag? → grab-bag is bad</a:t>
            </a:r>
          </a:p>
          <a:p>
            <a:pPr lvl="1">
              <a:spcAft>
                <a:spcPts val="800"/>
              </a:spcAft>
            </a:pPr>
            <a:r>
              <a:rPr b="0" sz="1400"/>
              <a:t>3.  Where is it in the tissue? Scattered → artefact. A structure → real.</a:t>
            </a:r>
          </a:p>
          <a:p>
            <a:pPr lvl="1">
              <a:spcAft>
                <a:spcPts val="800"/>
              </a:spcAft>
            </a:pPr>
            <a:r>
              <a:rPr b="0" sz="1400"/>
              <a:t>4.  Does it survive area-normalisation? If it vanishes, it was size.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type, or size artefact?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0" sz="1400"/>
              <a:t>The scree-plot elbow is much less informative for a targeted panel. Somebody already selected 5,000 informative genes, so variance is spread more evenly and there is often no clean elbow to find.</a:t>
            </a:r>
          </a:p>
          <a:p>
            <a:pPr>
              <a:spcAft>
                <a:spcPts val="800"/>
              </a:spcAft>
            </a:pPr>
            <a:r>
              <a:rPr b="1" sz="1400"/>
              <a:t>Practical starting points: </a:t>
            </a:r>
            <a:r>
              <a:rPr b="1" sz="1400"/>
              <a:t>30–50 PCs for a 5K panel</a:t>
            </a:r>
            <a:r>
              <a:rPr b="1" sz="1400"/>
              <a:t>, 10–20 for a 300-gene panel. Scale with panel size, not cell number.</a:t>
            </a:r>
          </a:p>
          <a:p>
            <a:pPr>
              <a:spcAft>
                <a:spcPts val="800"/>
              </a:spcAft>
            </a:pPr>
            <a:r>
              <a:rPr b="0" sz="1400"/>
              <a:t>Better than the elbow: </a:t>
            </a:r>
            <a:r>
              <a:rPr b="1" sz="1400"/>
              <a:t>correlate each PC with total_counts and cell_area</a:t>
            </a:r>
            <a:r>
              <a:rPr b="0" sz="1400"/>
              <a:t>. A PC that is essentially depth means the normalisation is not done — and the notebook has a section that fixes it.</a:t>
            </a:r>
          </a:p>
          <a:p>
            <a:pPr>
              <a:spcAft>
                <a:spcPts val="800"/>
              </a:spcAft>
            </a:pPr>
            <a:r>
              <a:rPr b="0" sz="1400"/>
              <a:t>Too few → rare cell types collapse into their nearest neighbour</a:t>
            </a:r>
          </a:p>
          <a:p>
            <a:pPr>
              <a:spcAft>
                <a:spcPts val="800"/>
              </a:spcAft>
            </a:pPr>
            <a:r>
              <a:rPr b="0" sz="1400"/>
              <a:t>Too many → you add noise, but Leiden tolerates it. Erring high is the safer error.</a:t>
            </a:r>
          </a:p>
          <a:p>
            <a:pPr>
              <a:spcAft>
                <a:spcPts val="800"/>
              </a:spcAft>
            </a:pPr>
            <a:r>
              <a:rPr b="0" sz="1400"/>
              <a:t>Test it: re-run with 20 and with 50, and see whether your smallest cluster survives. That is more informative than any plot of eigenvalues.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many principal components?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1" sz="1400"/>
              <a:t>n_neighbors</a:t>
            </a:r>
            <a:r>
              <a:rPr b="0" sz="1400"/>
              <a:t> builds the expression graph. Small (5–10) → fine structure, more clusters, noisier. Large (30–50) → smoother, fewer, more robust. 15 is a reasonable default from ~10,000 cells upward.</a:t>
            </a:r>
          </a:p>
          <a:p>
            <a:pPr>
              <a:spcAft>
                <a:spcPts val="800"/>
              </a:spcAft>
            </a:pPr>
            <a:r>
              <a:rPr b="1" sz="1400"/>
              <a:t>resolution</a:t>
            </a:r>
            <a:r>
              <a:rPr b="0" sz="1400"/>
              <a:t> decides how finely Leiden cuts that graph. It is not a number of clusters: doubling it does not double them.</a:t>
            </a:r>
          </a:p>
          <a:p>
            <a:pPr>
              <a:spcAft>
                <a:spcPts val="800"/>
              </a:spcAft>
            </a:pPr>
            <a:r>
              <a:rPr b="1" sz="1400"/>
              <a:t>Sweep resolution 0.3 → 2.0 and pick by two criteria: can you annotate every cluster with markers, and does it survive a change of random seed?</a:t>
            </a:r>
          </a:p>
          <a:p>
            <a:pPr>
              <a:spcAft>
                <a:spcPts val="800"/>
              </a:spcAft>
            </a:pPr>
            <a:r>
              <a:rPr b="1" sz="1400"/>
              <a:t>Careful — two different graphs in this workshop:</a:t>
            </a:r>
          </a:p>
          <a:p>
            <a:pPr lvl="1">
              <a:spcAft>
                <a:spcPts val="800"/>
              </a:spcAft>
            </a:pPr>
            <a:r>
              <a:rPr b="1" sz="1400"/>
              <a:t>sc.pp.neighbors</a:t>
            </a:r>
            <a:r>
              <a:rPr b="0" sz="1400"/>
              <a:t> → who is similar in </a:t>
            </a:r>
            <a:r>
              <a:rPr b="1" sz="1400"/>
              <a:t>expression</a:t>
            </a:r>
          </a:p>
          <a:p>
            <a:pPr lvl="1">
              <a:spcAft>
                <a:spcPts val="800"/>
              </a:spcAft>
            </a:pPr>
            <a:r>
              <a:rPr b="1" sz="1400"/>
              <a:t>sq.gr.spatial_neighbors</a:t>
            </a:r>
            <a:r>
              <a:rPr b="0" sz="1400"/>
              <a:t> → who is nearby in </a:t>
            </a:r>
            <a:r>
              <a:rPr b="1" sz="1400"/>
              <a:t>tissue</a:t>
            </a:r>
          </a:p>
          <a:p>
            <a:pPr>
              <a:spcAft>
                <a:spcPts val="800"/>
              </a:spcAft>
            </a:pPr>
            <a:r>
              <a:rPr b="0" sz="1400"/>
              <a:t>They are unrelated, both called "neighbours", and mixing them up is the commonest confusion of day 2.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n_neighbors and resolution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order, and what to re-check at each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buNone/>
            </a:pPr>
            <a:r>
              <a:rPr b="0" sz="1400"/>
              <a:t>1.  </a:t>
            </a:r>
            <a:r>
              <a:rPr b="1" sz="1400"/>
              <a:t>QC filter</a:t>
            </a:r>
            <a:r>
              <a:rPr b="0" sz="1400"/>
              <a:t> — then plot what you removed, in space</a:t>
            </a:r>
          </a:p>
          <a:p>
            <a:pPr>
              <a:spcAft>
                <a:spcPts val="800"/>
              </a:spcAft>
              <a:buNone/>
            </a:pPr>
            <a:r>
              <a:rPr b="0" sz="1400"/>
              <a:t>2.  </a:t>
            </a:r>
            <a:r>
              <a:rPr b="1" sz="1400"/>
              <a:t>Normalise + log1p</a:t>
            </a:r>
            <a:r>
              <a:rPr b="0" sz="1400"/>
              <a:t> — no HVG step; the panel already chose</a:t>
            </a:r>
          </a:p>
          <a:p>
            <a:pPr>
              <a:spcAft>
                <a:spcPts val="800"/>
              </a:spcAft>
              <a:buNone/>
            </a:pPr>
            <a:r>
              <a:rPr b="0" sz="1400"/>
              <a:t>3.  </a:t>
            </a:r>
            <a:r>
              <a:rPr b="1" sz="1400"/>
              <a:t>Scale</a:t>
            </a:r>
            <a:r>
              <a:rPr b="0" sz="1400"/>
              <a:t> — for PCA only; put log values back before markers</a:t>
            </a:r>
          </a:p>
          <a:p>
            <a:pPr>
              <a:spcAft>
                <a:spcPts val="800"/>
              </a:spcAft>
              <a:buNone/>
            </a:pPr>
            <a:r>
              <a:rPr b="0" sz="1400"/>
              <a:t>4.  </a:t>
            </a:r>
            <a:r>
              <a:rPr b="1" sz="1400"/>
              <a:t>PCA</a:t>
            </a:r>
            <a:r>
              <a:rPr b="0" sz="1400"/>
              <a:t> — then correlate the first PCs with total_counts and cell_area</a:t>
            </a:r>
          </a:p>
          <a:p>
            <a:pPr>
              <a:spcAft>
                <a:spcPts val="800"/>
              </a:spcAft>
              <a:buNone/>
            </a:pPr>
            <a:r>
              <a:rPr b="0" sz="1400"/>
              <a:t>5.  </a:t>
            </a:r>
            <a:r>
              <a:rPr b="1" sz="1400"/>
              <a:t>Neighbours</a:t>
            </a:r>
            <a:r>
              <a:rPr b="0" sz="1400"/>
              <a:t> (n_neighbors, n_pcs) — the expression graph</a:t>
            </a:r>
          </a:p>
          <a:p>
            <a:pPr>
              <a:spcAft>
                <a:spcPts val="800"/>
              </a:spcAft>
              <a:buNone/>
            </a:pPr>
            <a:r>
              <a:rPr b="1" sz="1400"/>
              <a:t>6.  </a:t>
            </a:r>
            <a:r>
              <a:rPr b="1" sz="1400"/>
              <a:t>UMAP</a:t>
            </a:r>
            <a:r>
              <a:rPr b="1" sz="1400"/>
              <a:t> — for looking at, never for clustering on</a:t>
            </a:r>
          </a:p>
          <a:p>
            <a:pPr>
              <a:spcAft>
                <a:spcPts val="800"/>
              </a:spcAft>
              <a:buNone/>
            </a:pPr>
            <a:r>
              <a:rPr b="0" sz="1400"/>
              <a:t>7.  </a:t>
            </a:r>
            <a:r>
              <a:rPr b="1" sz="1400"/>
              <a:t>Leiden</a:t>
            </a:r>
            <a:r>
              <a:rPr b="0" sz="1400"/>
              <a:t> (resolution) — then check stability across seeds</a:t>
            </a:r>
          </a:p>
          <a:p>
            <a:pPr>
              <a:spcAft>
                <a:spcPts val="800"/>
              </a:spcAft>
              <a:buNone/>
            </a:pPr>
            <a:r>
              <a:rPr b="0" sz="1400"/>
              <a:t>8.  </a:t>
            </a:r>
            <a:r>
              <a:rPr b="1" sz="1400"/>
              <a:t>Markers</a:t>
            </a:r>
            <a:r>
              <a:rPr b="0" sz="1400"/>
              <a:t> — coherent lineage, or a grab-bag?</a:t>
            </a:r>
          </a:p>
          <a:p>
            <a:pPr>
              <a:spcAft>
                <a:spcPts val="800"/>
              </a:spcAft>
              <a:buNone/>
            </a:pPr>
            <a:r>
              <a:rPr b="1" sz="1400"/>
              <a:t>9.  </a:t>
            </a:r>
            <a:r>
              <a:rPr b="1" sz="1400"/>
              <a:t>Plot the clusters on the tissue</a:t>
            </a:r>
            <a:r>
              <a:rPr b="1" sz="1400"/>
              <a:t> — the only external check you have</a:t>
            </a:r>
          </a:p>
          <a:p>
            <a:pPr>
              <a:spcAft>
                <a:spcPts val="800"/>
              </a:spcAft>
              <a:buNone/>
            </a:pPr>
            <a:r>
              <a:rPr b="1" sz="1400"/>
              <a:t>Every step inherits the ones above it. Change anything and re-run from that point down — including the checks.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400"/>
              </a:spcAft>
            </a:pPr>
            <a:r>
              <a:rPr b="0" sz="1800"/>
              <a:t>Everything so far was single-cell analysis with coordinates attached.</a:t>
            </a:r>
          </a:p>
          <a:p>
            <a:pPr>
              <a:spcAft>
                <a:spcPts val="1400"/>
              </a:spcAft>
            </a:pPr>
            <a:r>
              <a:rPr b="1" sz="1800"/>
              <a:t>The organising idea for today:</a:t>
            </a:r>
          </a:p>
          <a:p>
            <a:pPr>
              <a:spcAft>
                <a:spcPts val="1400"/>
              </a:spcAft>
            </a:pPr>
            <a:r>
              <a:rPr b="1" sz="1800"/>
              <a:t>Build a graph of which cells touch which, then ask questions of the graph.</a:t>
            </a:r>
          </a:p>
          <a:p>
            <a:pPr>
              <a:spcAft>
                <a:spcPts val="1400"/>
              </a:spcAft>
            </a:pPr>
            <a:r>
              <a:rPr b="0" sz="1800"/>
              <a:t>Almost every method in this field is a variation on that sentence.</a:t>
            </a:r>
          </a:p>
          <a:p>
            <a:pPr>
              <a:spcAft>
                <a:spcPts val="1400"/>
              </a:spcAft>
            </a:pPr>
            <a:r>
              <a:rPr b="0" sz="1800"/>
              <a:t>Neighbourhood enrichment · co-occurrence · Moran's I · niches · distance fields · sub-cellular localisation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— now we use the coordinates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700"/>
              <a:t>k nearest neighbours — every cell gets the same number of contacts. Comparable statistics across regions.</a:t>
            </a:r>
          </a:p>
          <a:p>
            <a:pPr>
              <a:spcAft>
                <a:spcPts val="1000"/>
              </a:spcAft>
            </a:pPr>
            <a:r>
              <a:rPr b="0" sz="1700"/>
              <a:t>Delaunay triangulation — neighbours share a Voronoi face. Closest to 'physically touching'. Usually the honest default.</a:t>
            </a:r>
          </a:p>
          <a:p>
            <a:pPr>
              <a:spcAft>
                <a:spcPts val="1000"/>
              </a:spcAft>
            </a:pPr>
            <a:r>
              <a:rPr b="0" sz="1700"/>
              <a:t>Fixed radius — a physical scale, e.g. a signalling range. But behaves badly where density varies.</a:t>
            </a:r>
          </a:p>
          <a:p>
            <a:pPr>
              <a:spcAft>
                <a:spcPts val="1000"/>
              </a:spcAft>
            </a:pPr>
            <a:r>
              <a:rPr b="1" sz="1700"/>
              <a:t>Trim long edges. Two cells 'touching' across a lumen or a tear are not touching.</a:t>
            </a:r>
          </a:p>
          <a:p>
            <a:pPr>
              <a:spcAft>
                <a:spcPts val="1000"/>
              </a:spcAft>
            </a:pPr>
            <a:r>
              <a:rPr b="0" sz="1700"/>
              <a:t>The choice is a biological claim. Make it deliberately.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counts as a neighbour?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600"/>
              <a:t>Count contacts between each pair of cell types; compare with shuffled labels</a:t>
            </a:r>
          </a:p>
          <a:p>
            <a:pPr>
              <a:spcAft>
                <a:spcPts val="1000"/>
              </a:spcAft>
            </a:pPr>
            <a:r>
              <a:rPr b="0" sz="1600"/>
              <a:t>Red on the diagonal = that type is clustered. Almost everything is. Not a finding.</a:t>
            </a:r>
          </a:p>
          <a:p>
            <a:pPr>
              <a:spcAft>
                <a:spcPts val="1000"/>
              </a:spcAft>
            </a:pPr>
            <a:r>
              <a:rPr b="0" sz="1600"/>
              <a:t>Blue off-diagonal = segregation — often the more interesting direction. Immune exclusion is a blue square.</a:t>
            </a:r>
          </a:p>
          <a:p>
            <a:pPr>
              <a:spcAft>
                <a:spcPts val="1000"/>
              </a:spcAft>
            </a:pPr>
            <a:r>
              <a:rPr b="0" sz="1600"/>
              <a:t>Trap 1: a global shuffle destroys tissue structure, so everything looks significant</a:t>
            </a:r>
          </a:p>
          <a:p>
            <a:pPr>
              <a:spcAft>
                <a:spcPts val="1000"/>
              </a:spcAft>
            </a:pPr>
            <a:r>
              <a:rPr b="0" sz="1600"/>
              <a:t>Trap 2: z-scores scale with cell number. Never compare raw z across datasets.</a:t>
            </a:r>
          </a:p>
          <a:p>
            <a:pPr>
              <a:spcAft>
                <a:spcPts val="1000"/>
              </a:spcAft>
            </a:pPr>
            <a:r>
              <a:rPr b="1" sz="1600"/>
              <a:t>Trap 3: one section, one patient. n = 1.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Neighbourhood enrichment, and its too-easy null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600"/>
              <a:t>Adjacency is one scale. Real biology has a length scale.</a:t>
            </a:r>
          </a:p>
          <a:p>
            <a:pPr>
              <a:spcAft>
                <a:spcPts val="1000"/>
              </a:spcAft>
            </a:pPr>
            <a:r>
              <a:rPr b="0" sz="1600"/>
              <a:t>Juxtacrine signalling ~10 µm · chemokine gradients ~100 µm · tissue compartments ~mm</a:t>
            </a:r>
          </a:p>
          <a:p>
            <a:pPr>
              <a:spcAft>
                <a:spcPts val="1000"/>
              </a:spcAft>
            </a:pPr>
            <a:r>
              <a:rPr b="0" sz="1600"/>
              <a:t>Co-occurrence: enrichment as a function of radius. Where the curve crosses 1 is the length scale of the interaction.</a:t>
            </a:r>
          </a:p>
          <a:p>
            <a:pPr>
              <a:spcAft>
                <a:spcPts val="1000"/>
              </a:spcAft>
            </a:pPr>
            <a:r>
              <a:rPr b="0" sz="1600"/>
              <a:t>Ripley's L: is one cell type clustered or dispersed, and at what radius?</a:t>
            </a:r>
          </a:p>
          <a:p>
            <a:pPr>
              <a:spcAft>
                <a:spcPts val="1000"/>
              </a:spcAft>
            </a:pPr>
            <a:r>
              <a:rPr b="0" sz="1600"/>
              <a:t>Regular spacing is rare and interesting — it means something is actively controlling position</a:t>
            </a:r>
          </a:p>
          <a:p>
            <a:pPr>
              <a:spcAft>
                <a:spcPts val="1000"/>
              </a:spcAft>
            </a:pPr>
            <a:r>
              <a:rPr b="1" sz="1600"/>
              <a:t>Report the radius, in microns. That is a number you can compare between patients.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 what distance? Scale is the finding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600"/>
              <a:t>Everything above needs cell-type labels, and inherits every annotation mistake</a:t>
            </a:r>
          </a:p>
          <a:p>
            <a:pPr>
              <a:spcAft>
                <a:spcPts val="1000"/>
              </a:spcAft>
            </a:pPr>
            <a:r>
              <a:rPr b="0" sz="1600"/>
              <a:t>Moran's I asks directly: are neighbouring cells more similar than distant ones, for this gene?</a:t>
            </a:r>
          </a:p>
          <a:p>
            <a:pPr>
              <a:spcAft>
                <a:spcPts val="1000"/>
              </a:spcAft>
            </a:pPr>
            <a:r>
              <a:rPr b="1" sz="1600"/>
              <a:t>No clustering required. A genuinely different question from 'is this a marker'.</a:t>
            </a:r>
          </a:p>
          <a:p>
            <a:pPr>
              <a:spcAft>
                <a:spcPts val="1000"/>
              </a:spcAft>
            </a:pPr>
            <a:r>
              <a:rPr b="0" sz="1600"/>
              <a:t>A gene can mark a cell type and not be spatially structured — if that type is scattered</a:t>
            </a:r>
          </a:p>
          <a:p>
            <a:pPr>
              <a:spcAft>
                <a:spcPts val="1000"/>
              </a:spcAft>
            </a:pPr>
            <a:r>
              <a:rPr b="0" sz="1600"/>
              <a:t>And a gene can be spatially structured without marking any cluster — hypoxia near necrosis, interferon radiating from a focus, a proliferation gradient</a:t>
            </a:r>
          </a:p>
          <a:p>
            <a:pPr>
              <a:spcAft>
                <a:spcPts val="1000"/>
              </a:spcAft>
            </a:pPr>
            <a:r>
              <a:rPr b="0" sz="1600"/>
              <a:t>These are exactly the genes a cluster-first analysis misses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Moran's I — structure without clusters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Niches — the unit of tissue organisation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1" sz="1600"/>
              <a:t>A cell type is a property of a cell. A niche is a property of a neighbourhood.</a:t>
            </a:r>
          </a:p>
          <a:p>
            <a:pPr>
              <a:spcAft>
                <a:spcPts val="1000"/>
              </a:spcAft>
            </a:pPr>
            <a:r>
              <a:rPr b="0" sz="1600"/>
              <a:t>The recipe is three lines: 1) for each cell, the cell-type composition of its neighbourhood; 2) cluster those composition vectors; 3) each cluster is a niche</a:t>
            </a:r>
          </a:p>
          <a:p>
            <a:pPr>
              <a:spcAft>
                <a:spcPts val="1000"/>
              </a:spcAft>
            </a:pPr>
            <a:r>
              <a:rPr b="0" sz="1600"/>
              <a:t>Tumour nest core · invasive front · vascular stroma · tertiary lymphoid structure — these are niches, and this is the level most tissue biology happens at</a:t>
            </a:r>
          </a:p>
          <a:p>
            <a:pPr>
              <a:spcAft>
                <a:spcPts val="1000"/>
              </a:spcAft>
            </a:pPr>
            <a:r>
              <a:rPr b="0" sz="1600"/>
              <a:t>The niche map looks more like histology than the cell-type map does, because it describes compartments rather than cells</a:t>
            </a:r>
          </a:p>
          <a:p>
            <a:pPr>
              <a:spcAft>
                <a:spcPts val="1000"/>
              </a:spcAft>
            </a:pPr>
            <a:r>
              <a:rPr b="1" sz="1600"/>
              <a:t>Then name them anatomically. A room full of anatomists has the advantage here — you already know what these structures are called.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buNone/>
            </a:pPr>
            <a:r>
              <a:rPr b="1" sz="1500"/>
              <a:t>Impossible in scRNA-seq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Which cells physically touch which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Expression as a function of distance to a structure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Sub-cellular localisation: nuclear vs cytoplasmic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Detecting cells stacked in the z dimension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Tissue compartments and niches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Cell types destroyed by 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buNone/>
            </a:pPr>
            <a:r>
              <a:rPr b="1" sz="1500"/>
              <a:t>Still better in scRNA-seq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Whole transcriptome, far greater depth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Discovering unexpected cell states</a:t>
            </a:r>
          </a:p>
          <a:p>
            <a:pPr>
              <a:spcAft>
                <a:spcPts val="900"/>
              </a:spcAft>
              <a:buNone/>
            </a:pPr>
            <a:r>
              <a:rPr b="0" sz="1500"/>
              <a:t>Cost per cell, and therefore sample size</a:t>
            </a:r>
          </a:p>
          <a:p>
            <a:pPr>
              <a:spcAft>
                <a:spcPts val="900"/>
              </a:spcAft>
              <a:buNone/>
            </a:pPr>
            <a:r>
              <a:rPr b="1" sz="1500"/>
              <a:t>They answer different questions. The best studies use both — discovery dissociated, placement in situ.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only spatial can do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600"/>
              <a:t>Pick a reference structure, build a KD-tree, ask every cell how far it is</a:t>
            </a:r>
          </a:p>
          <a:p>
            <a:pPr>
              <a:spcAft>
                <a:spcPts val="1000"/>
              </a:spcAft>
            </a:pPr>
            <a:r>
              <a:rPr b="1" sz="1600"/>
              <a:t>A categorical comparison becomes a dose–response curve</a:t>
            </a:r>
          </a:p>
          <a:p>
            <a:pPr>
              <a:spcAft>
                <a:spcPts val="1000"/>
              </a:spcAft>
            </a:pPr>
            <a:r>
              <a:rPr b="0" sz="1600"/>
              <a:t>Same cell type, different position — so position is the only variable. This design does not exist in dissociated data.</a:t>
            </a:r>
          </a:p>
          <a:p>
            <a:pPr>
              <a:spcAft>
                <a:spcPts val="1000"/>
              </a:spcAft>
            </a:pPr>
            <a:r>
              <a:rPr b="0" sz="1600"/>
              <a:t>Careful: distance to a cell type is not distance to a structure. One misclassified cell creates a false nest.</a:t>
            </a:r>
          </a:p>
          <a:p>
            <a:pPr>
              <a:spcAft>
                <a:spcPts val="1000"/>
              </a:spcAft>
            </a:pPr>
            <a:r>
              <a:rPr b="0" sz="1600"/>
              <a:t>Use niches as the reference, not cell types — they are already smoothed over neighbourhoods</a:t>
            </a:r>
          </a:p>
          <a:p>
            <a:pPr>
              <a:spcAft>
                <a:spcPts val="1000"/>
              </a:spcAft>
            </a:pPr>
            <a:r>
              <a:rPr b="0" sz="1600"/>
              <a:t>And fit correlated distances together. Vessels sit in stroma, so distance-to-vessel and distance-to-tumour are entangled.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 as a continuous covariate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600"/>
              <a:t>Each transcript is recorded as inside or outside the nucleus</a:t>
            </a:r>
          </a:p>
          <a:p>
            <a:pPr>
              <a:spcAft>
                <a:spcPts val="1000"/>
              </a:spcAft>
            </a:pPr>
            <a:r>
              <a:rPr b="1" sz="1600"/>
              <a:t>Aggregate per gene: nuclear versus cytoplasmic localisation, in situ, for 5,000 genes at once</a:t>
            </a:r>
          </a:p>
          <a:p>
            <a:pPr>
              <a:spcAft>
                <a:spcPts val="1000"/>
              </a:spcAft>
            </a:pPr>
            <a:r>
              <a:rPr b="0" sz="1600"/>
              <a:t>Nuclear-retained lncRNAs sit at the top; abundant secretory and structural mRNAs at the bottom</a:t>
            </a:r>
          </a:p>
          <a:p>
            <a:pPr>
              <a:spcAft>
                <a:spcPts val="1000"/>
              </a:spcAft>
            </a:pPr>
            <a:r>
              <a:rPr b="0" sz="1600"/>
              <a:t>Why an anatomy department should care: this is a proxy for transcription timing. Nuclear-skewed means recently switched on.</a:t>
            </a:r>
          </a:p>
          <a:p>
            <a:pPr>
              <a:spcAft>
                <a:spcPts val="1000"/>
              </a:spcAft>
            </a:pPr>
            <a:r>
              <a:rPr b="1" sz="1600"/>
              <a:t>A temporal axis, from a fixed section.</a:t>
            </a:r>
          </a:p>
          <a:p>
            <a:pPr>
              <a:spcAft>
                <a:spcPts val="1000"/>
              </a:spcAft>
            </a:pPr>
            <a:r>
              <a:rPr b="0" sz="1600"/>
              <a:t>Caveats: the nucleus polygon has its own error, and a 2D section through a 3D nucleus mislabels transcripts at the top and bottom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Below the cell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ways to fool yourself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b="0" sz="1500"/>
              <a:t>1.  Trusting the segmentation. Repeat one key result on a raw transcript grid with no cells at all. If it disappears, it was a segmentation result.</a:t>
            </a:r>
          </a:p>
          <a:p>
            <a:pPr>
              <a:spcAft>
                <a:spcPts val="1200"/>
              </a:spcAft>
              <a:buNone/>
            </a:pPr>
            <a:r>
              <a:rPr b="0" sz="1500"/>
              <a:t>2.  Forgetting the section has thickness. Two cells stacked in z become one polygon with a mixed profile, and no amount of 2D re-segmentation fixes it. ovrlpy maps this directly.</a:t>
            </a:r>
          </a:p>
          <a:p>
            <a:pPr>
              <a:spcAft>
                <a:spcPts val="1200"/>
              </a:spcAft>
              <a:buNone/>
            </a:pPr>
            <a:r>
              <a:rPr b="0" sz="1500"/>
              <a:t>3.  A null that is too easy. Shuffling labels globally destroys architecture and makes everything significant.</a:t>
            </a:r>
          </a:p>
          <a:p>
            <a:pPr>
              <a:spcAft>
                <a:spcPts val="1200"/>
              </a:spcAft>
              <a:buNone/>
            </a:pPr>
            <a:r>
              <a:rPr b="0" sz="1500"/>
              <a:t>4.  Spillover read as biology. A fibroblast surrounded by tumour picks up tumour transcripts. Ask whether the difference is in genes the neighbours express.</a:t>
            </a:r>
          </a:p>
          <a:p>
            <a:pPr>
              <a:spcAft>
                <a:spcPts val="1200"/>
              </a:spcAft>
              <a:buNone/>
            </a:pPr>
            <a:r>
              <a:rPr b="0" sz="1500"/>
              <a:t>5.  Filtering out a structure. Always plot what you removed.</a:t>
            </a:r>
          </a:p>
          <a:p>
            <a:pPr>
              <a:spcAft>
                <a:spcPts val="1200"/>
              </a:spcAft>
              <a:buNone/>
            </a:pPr>
            <a:r>
              <a:rPr b="1" sz="1500"/>
              <a:t>6.  Confusing cells with replicates. 400,000 cells from two patients is an n of 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b="0" sz="1500"/>
              <a:t>Is the question actually spatial? If dissociated cells can answer it, do that — cheaper, deeper, better powered.</a:t>
            </a:r>
          </a:p>
          <a:p>
            <a:pPr>
              <a:spcAft>
                <a:spcPts val="1000"/>
              </a:spcAft>
            </a:pPr>
            <a:r>
              <a:rPr b="1" sz="1500"/>
              <a:t>What is n? Cells are not replicates. n is sections, and really donors. Settle this at design, not at review.</a:t>
            </a:r>
          </a:p>
          <a:p>
            <a:pPr>
              <a:spcAft>
                <a:spcPts val="1000"/>
              </a:spcAft>
            </a:pPr>
            <a:r>
              <a:rPr b="0" sz="1500"/>
              <a:t>Panel or whole transcriptome? If you cannot list the genes, you are not ready for a panel.</a:t>
            </a:r>
          </a:p>
          <a:p>
            <a:pPr>
              <a:spcAft>
                <a:spcPts val="1000"/>
              </a:spcAft>
            </a:pPr>
            <a:r>
              <a:rPr b="0" sz="1500"/>
              <a:t>Check every marker against gene_panel.json. Missing markers are the commonest regret.</a:t>
            </a:r>
          </a:p>
          <a:p>
            <a:pPr>
              <a:spcAft>
                <a:spcPts val="1000"/>
              </a:spcAft>
            </a:pPr>
            <a:r>
              <a:rPr b="0" sz="1500"/>
              <a:t>Section orientation is a decision, not an accident — and it is the thing this department is best placed in the building to get right</a:t>
            </a:r>
          </a:p>
          <a:p>
            <a:pPr>
              <a:spcAft>
                <a:spcPts val="1000"/>
              </a:spcAft>
            </a:pPr>
            <a:r>
              <a:rPr b="0" sz="1500"/>
              <a:t>Budget storage and compute at the same time as instrument time. 20–100 GB per run.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your own experiment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6" sz="quarter"/>
          </p:nvPr>
        </p:nvSpPr>
        <p:spPr/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go next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Aft>
                <a:spcPts val="1100"/>
              </a:spcAft>
            </a:pPr>
            <a:r>
              <a:rPr b="1" sz="1500"/>
              <a:t>Xenium Explorer</a:t>
            </a:r>
            <a:r>
              <a:rPr b="0" sz="1500"/>
              <a:t> — free, from 10x. Browse the full run with the images. Use it constantly; it catches artefacts no plot will.</a:t>
            </a:r>
          </a:p>
          <a:p>
            <a:pPr>
              <a:spcAft>
                <a:spcPts val="1100"/>
              </a:spcAft>
            </a:pPr>
            <a:r>
              <a:rPr b="1" sz="1500"/>
              <a:t>squidpy</a:t>
            </a:r>
            <a:r>
              <a:rPr b="0" sz="1500"/>
              <a:t> and </a:t>
            </a:r>
            <a:r>
              <a:rPr b="1" sz="1500"/>
              <a:t>SpatialData</a:t>
            </a:r>
            <a:r>
              <a:rPr b="0" sz="1500"/>
              <a:t> — the analysis and container libraries used here. Their tutorials are unusually good.</a:t>
            </a:r>
          </a:p>
          <a:p>
            <a:pPr>
              <a:spcAft>
                <a:spcPts val="1100"/>
              </a:spcAft>
            </a:pPr>
            <a:r>
              <a:rPr b="1" sz="1500"/>
              <a:t>Baysor · Proseg · Segger</a:t>
            </a:r>
            <a:r>
              <a:rPr b="0" sz="1500"/>
              <a:t> — alternative segmentation. If a finding changes when you re-segment, it was a segmentation finding.</a:t>
            </a:r>
          </a:p>
          <a:p>
            <a:pPr>
              <a:spcAft>
                <a:spcPts val="1100"/>
              </a:spcAft>
            </a:pPr>
            <a:r>
              <a:rPr b="1" sz="1500"/>
              <a:t>ovrlpy</a:t>
            </a:r>
            <a:r>
              <a:rPr b="0" sz="1500"/>
              <a:t> — vertical signal integrity: finds z-stacked doublets and tissue folds that 2D QC cannot see (Nat Biotech 2026)</a:t>
            </a:r>
          </a:p>
          <a:p>
            <a:pPr>
              <a:spcAft>
                <a:spcPts val="1100"/>
              </a:spcAft>
            </a:pPr>
            <a:r>
              <a:rPr b="1" sz="1500"/>
              <a:t>CellCharter · Banksy · UTAG</a:t>
            </a:r>
            <a:r>
              <a:rPr b="0" sz="1500"/>
              <a:t> — niche and domain detection beyond the k-means recipe we used</a:t>
            </a:r>
          </a:p>
          <a:p>
            <a:pPr>
              <a:spcAft>
                <a:spcPts val="1100"/>
              </a:spcAft>
            </a:pPr>
            <a:r>
              <a:rPr b="1" sz="1500"/>
              <a:t>Voyager</a:t>
            </a:r>
            <a:r>
              <a:rPr b="0" sz="1500"/>
              <a:t> (R) — spatial statistics on a proper geospatial foundation</a:t>
            </a:r>
          </a:p>
          <a:p>
            <a:pPr>
              <a:spcAft>
                <a:spcPts val="1100"/>
              </a:spcAft>
            </a:pPr>
            <a:r>
              <a:rPr b="0" sz="1500"/>
              <a:t>Reading: Moses &amp; Pachter 2022 (Nat Methods) · Palla, Fischer, Regev &amp; Theis 2022 (Nat Biotech)</a:t>
            </a:r>
          </a:p>
          <a:p>
            <a:pPr>
              <a:spcAft>
                <a:spcPts val="1100"/>
              </a:spcAft>
            </a:pPr>
            <a:r>
              <a:rPr b="0" sz="1500"/>
              <a:t>Locally: SASC and the Cell Observatory — talk to them </a:t>
            </a:r>
            <a:r>
              <a:rPr b="1" sz="1500"/>
              <a:t>before</a:t>
            </a:r>
            <a:r>
              <a:rPr b="0" sz="1500"/>
              <a:t> the experiment, not after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If figure 4 would look the same without the coordinates, redesign the analysis.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dia's | 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0DE10A4B-82F4-4076-A806-01A05AF0CC1E}"/>
    </a:ext>
  </a:extLst>
</a:theme>
</file>

<file path=ppt/theme/theme2.xml><?xml version="1.0" encoding="utf-8"?>
<a:theme xmlns:a="http://schemas.openxmlformats.org/drawingml/2006/main" name="Inhouddia's | 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4745102E-F7BE-4C89-A0DC-80C5976D533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8E77E9BB20574C88F1A51905EBD0AF" ma:contentTypeVersion="4" ma:contentTypeDescription="Create a new document." ma:contentTypeScope="" ma:versionID="455c74ca665ac03d7ee707fc48cc1da4">
  <xsd:schema xmlns:xsd="http://www.w3.org/2001/XMLSchema" xmlns:xs="http://www.w3.org/2001/XMLSchema" xmlns:p="http://schemas.microsoft.com/office/2006/metadata/properties" xmlns:ns2="01a1795b-c314-4f6e-9e61-ae7877c66689" targetNamespace="http://schemas.microsoft.com/office/2006/metadata/properties" ma:root="true" ma:fieldsID="7f1125c12b2a4d355fdeb8f38e5be982" ns2:_="">
    <xsd:import namespace="01a1795b-c314-4f6e-9e61-ae7877c666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1795b-c314-4f6e-9e61-ae7877c666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F798CA-DD6B-4E33-A309-EB3438BB22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a1795b-c314-4f6e-9e61-ae7877c666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C19E0A-4185-408F-B909-D5C369F93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9AE33E-0A9E-4BD8-990C-786E2BB7161F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</Words>
  <Application>Microsoft Office PowerPoint</Application>
  <PresentationFormat>Breedbeeld</PresentationFormat>
  <Paragraphs>14</Paragraphs>
  <Slides>1</Slides>
  <Notes>1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Aptos</vt:lpstr>
      <vt:lpstr>Arial</vt:lpstr>
      <vt:lpstr>Merriweather</vt:lpstr>
      <vt:lpstr>Vestula</vt:lpstr>
      <vt:lpstr>Vestula Pro</vt:lpstr>
      <vt:lpstr>Titeldia's | Title slides</vt:lpstr>
      <vt:lpstr>Inhouddia's | Content slides</vt:lpstr>
      <vt:lpstr>PowerPoint-presentatie</vt:lpstr>
    </vt:vector>
  </TitlesOfParts>
  <Company>Universiteit Leiden - ISSC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Scheen, D.A.C. (Daniël)</dc:creator>
  <cp:lastModifiedBy>Scheen, D.A.C. (Daniël)</cp:lastModifiedBy>
  <cp:revision>8</cp:revision>
  <dcterms:created xsi:type="dcterms:W3CDTF">2026-04-02T12:11:54Z</dcterms:created>
  <dcterms:modified xsi:type="dcterms:W3CDTF">2026-07-07T11:52:24Z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0x010100798E77E9BB20574C88F1A51905EBD0AF</vt:lpwstr>
  </property>
</Properties>
</file>