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  <p:sldMasterId id="2147483811" r:id="rId5"/>
  </p:sldMasterIdLst>
  <p:notesMasterIdLst>
    <p:notesMasterId r:id="rId7"/>
  </p:notesMasterIdLst>
  <p:handoutMasterIdLst>
    <p:handoutMasterId r:id="rId8"/>
  </p:handoutMasterIdLst>
  <p:sldIdLst>
    <p:sldId id="256" r:id="rId6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 | Instructions" id="{57C8B40F-F360-4326-8328-CF1BBE95392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58"/>
    <a:srgbClr val="EAEAEA"/>
    <a:srgbClr val="F9F9F9"/>
    <a:srgbClr val="FFFFFF"/>
    <a:srgbClr val="EEF7E9"/>
    <a:srgbClr val="333333"/>
    <a:srgbClr val="C9D2EB"/>
    <a:srgbClr val="E7E6E6"/>
    <a:srgbClr val="BCD2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31" autoAdjust="0"/>
  </p:normalViewPr>
  <p:slideViewPr>
    <p:cSldViewPr snapToGrid="0">
      <p:cViewPr varScale="1">
        <p:scale>
          <a:sx n="102" d="100"/>
          <a:sy n="102" d="100"/>
        </p:scale>
        <p:origin x="132" y="210"/>
      </p:cViewPr>
      <p:guideLst>
        <p:guide orient="horz" pos="2183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7-7-2026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hand this out before the exercises. Several answers are 'it depends', and the value is in the attempt.</a:t>
            </a:r>
          </a:p>
          <a:p/>
          <a:p>
            <a:r>
              <a:t>Use it to run the debrief: put the slide up after they have tried, and ask whether their answer matched before you read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trap the exercise exists for, and on this dataset it fires. If someone reports 250,000 counts on a 'control' and concludes the run is broken, that is exactly the reasoning to correct.</a:t>
            </a:r>
          </a:p>
          <a:p/>
          <a:p>
            <a:r>
              <a:t>Ask what class the top hits are. The answer is on the screen and it settles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per-gene half is the part that matters and the part people skip. A uniform 25% loss would be harmless; a biased 25% loss changes which cell types look abundant.</a:t>
            </a:r>
          </a:p>
          <a:p/>
          <a:p>
            <a:r>
              <a:t>Connect forward: this is one reason the tumour looked low-quality in notebook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as a round-the-room, two minutes. Reject 'spatial context' and 'more information' and push for a sentence with a testable shape.</a:t>
            </a:r>
          </a:p>
          <a:p/>
          <a:p>
            <a:r>
              <a:t>The best answers usually come from people thinking about their own tissue, so this is a good moment to collect those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nobody finds a region, that is a legitimate answer on a clean crop — say so rather than pushing them to invent one.</a:t>
            </a:r>
          </a:p>
          <a:p/>
          <a:p>
            <a:r>
              <a:t>The transferable habit: exclude regions explicitly and say where, instead of letting a per-cell filter quietly remove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our crop the region comparison in section 4 already showed area ratio well below 1 with density closer to 1, so expect the structure to soften but not vanish - there is a genuine sparse component too.</a:t>
            </a:r>
          </a:p>
          <a:p/>
          <a:p>
            <a:r>
              <a:t>Neither outcome is a failure. The exercise is about learning that the choice of metric IS the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the three rows on the board as people read out their numbers. The nest column is the one that lands.</a:t>
            </a:r>
          </a:p>
          <a:p/>
          <a:p>
            <a:r>
              <a:t>Do not adjudicate. The answer is that all three are defensible and each costs something specific, which is the whole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that changes behaviour. Writing the sentence forces people to notice what a threshold actually did.</a:t>
            </a:r>
          </a:p>
          <a:p/>
          <a:p>
            <a:r>
              <a:t>Worth saying: every filter deserves this sentence, not just the extreme one. If you cannot write it, you have not made a decision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framing: clustering is a choice, not a discovery. Stability across parameters is the cheapest available evidence that a cluster is more than an artefact of where you cut.</a:t>
            </a:r>
          </a:p>
          <a:p/>
          <a:p>
            <a:r>
              <a:t>The real test is another sample - say so, because it is the answer reviewers will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ciliated cluster is the worked example and it is genuinely interesting for tubo-ovarian tissue - ask the room where those cells are and what that means anatomically.</a:t>
            </a:r>
          </a:p>
          <a:p/>
          <a:p>
            <a:r>
              <a:t>Point three has no scRNA-seq equivalent.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Ties directly back to the depth-and-size discussion. The immune compartment is where every methodological choice in this workshop bites hardest, because those cells are small, sparse and densely packed.</a:t>
            </a:r>
          </a:p>
          <a:p/>
          <a:p>
            <a:r>
              <a:t>Appendix B has the full version if anyone wants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transferable habit is reporting the scale rather than the direction. Everything is clustered at some scale; the question is which.</a:t>
            </a:r>
          </a:p>
          <a:p/>
          <a:p>
            <a:r>
              <a:t>Remind them n_simulations is 20 here, so the envelope is rough. The shape is trustworthy, the exact crossing point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argument in the workshop for running a cluster-independent statistic at all. If you only ever ask 'what are the markers of cluster 5', gradients are invisible.</a:t>
            </a:r>
          </a:p>
          <a:p/>
          <a:p>
            <a:r>
              <a:t>The technical caveat is not optional - a focus gradient produces beautiful Moran's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back on anyone reaching for an automated K selection. The nameability test is more defensible and more useful, and it is a test this room can actually apply.</a:t>
            </a:r>
          </a:p>
          <a:p/>
          <a:p>
            <a:r>
              <a:t>Naming the niches out loud is the best two minutes of notebook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spillover distinction is worth ten minutes and is the most transferable idea in notebook 04. Almost every published niche-DE result should be read with this question in mind.</a:t>
            </a:r>
          </a:p>
          <a:p/>
          <a:p>
            <a:r>
              <a:t>Practical version: take your top niche markers and ask which cell type usually expresses them. If the answer is 'the neighbours', be suspicious.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drawing on the whiteboard: two structures, one nested in the other's neighbourhood, and a gene that tracks either.</a:t>
            </a:r>
          </a:p>
          <a:p/>
          <a:p>
            <a:r>
              <a:t>This generalises to every covariate in spatial data. Position correlates with almost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null result being a real result is the part to emphasise. People assume a boundary they can see must be transcriptional, and often it is not.</a:t>
            </a:r>
          </a:p>
          <a:p/>
          <a:p>
            <a:r>
              <a:t>Same hazard as choosing a QC threshold after seeing what it removes - connect the two explicitly, they met it yesterday.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Cheapest sanity check in the field and almost nobody does it. Ten lines of code, no dependencies, no assumptions.</a:t>
            </a:r>
          </a:p>
          <a:p/>
          <a:p>
            <a:r>
              <a:t>If a headline result survives on the raw transcript grid, it is not a segmentation artefact - and you can say that in a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runs this against the deprecated codewords they will conclude most of the panel is unusable. Catch that - it is the same error as exercise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workshop's central idea shows up inside a QC exercise: position resolves an ambiguity that abundance cannot.</a:t>
            </a:r>
          </a:p>
          <a:p/>
          <a:p>
            <a:r>
              <a:t>Our ciliated population is the concrete case - few cells, low totals, completely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recurring move: when a statistical threshold cannot settle something, the tissue can. That is the workshop thesis appearing in an appendix.</a:t>
            </a:r>
          </a:p>
          <a:p/>
          <a:p>
            <a:r>
              <a:t>Also a good moment to mention that the number of controls is a design parameter they do not control but should know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calibration matters: on a clean run this test rarely excludes anything, and saying so avoids people over-filtering out of caution.</a:t>
            </a:r>
          </a:p>
          <a:p/>
          <a:p>
            <a:r>
              <a:t>The real limit is the usability threshold in A.3, not the background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loop with the notebook 02 finding that the tumour was being discarded. The chain is: retired probe -&gt; huge deprecated codeword count -&gt; inflated 'control fraction' -&gt; tumour filtered out.</a:t>
            </a:r>
          </a:p>
          <a:p/>
          <a:p>
            <a:r>
              <a:t>A good example of a bug that looks like biology, and of why the class breakdown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workshop thesis arriving inside a normalisation appendix: when a statistic cannot decide, the tissue can. Worth saying out loud even to the one or two people who get this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habit: never drop or trust a component without looking at what it is made of. It takes one line.</a:t>
            </a:r>
          </a:p>
          <a:p/>
          <a:p>
            <a:r>
              <a:t>Ties back to the 'dropping PC1' row of the explorer, where the correlation simply reappears on PC2.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lesson as the resolution sweep, in a different place: a default is a choice somebody else made, and you should know which of your results depend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closing the debrief on. Several exercises are deliberately open, and a student who says 'it depends, and here is what it depends on' has understood more than one who matched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ringen | With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ngen  | Rings" descr="Afbeelding met cirkel, astronomie, kunst&#10;&#10;Door AI gegenereerde inhoud is mogelijk onjuist.">
            <a:extLst>
              <a:ext uri="{FF2B5EF4-FFF2-40B4-BE49-F238E27FC236}">
                <a16:creationId xmlns:a16="http://schemas.microsoft.com/office/drawing/2014/main" id="{2B8CC4EC-6F14-EB4B-2CCE-011FD848A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1"/>
            <a:ext cx="10088046" cy="6857433"/>
          </a:xfrm>
          <a:prstGeom prst="rect">
            <a:avLst/>
          </a:prstGeom>
        </p:spPr>
      </p:pic>
      <p:sp>
        <p:nvSpPr>
          <p:cNvPr id="2" name="Titelachtergrond | Title background">
            <a:extLst>
              <a:ext uri="{FF2B5EF4-FFF2-40B4-BE49-F238E27FC236}">
                <a16:creationId xmlns:a16="http://schemas.microsoft.com/office/drawing/2014/main" id="{06A374E3-2136-8ECB-CEAB-D18BA8E40FB1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dertitel | Subtitle">
            <a:extLst>
              <a:ext uri="{FF2B5EF4-FFF2-40B4-BE49-F238E27FC236}">
                <a16:creationId xmlns:a16="http://schemas.microsoft.com/office/drawing/2014/main" id="{0B62575E-DF3C-6BB5-20F5-AA3588ADF8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="0" i="0" kern="1200" baseline="0" dirty="0">
                <a:solidFill>
                  <a:srgbClr val="BCD2FF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7" name="Titel | Title">
            <a:extLst>
              <a:ext uri="{FF2B5EF4-FFF2-40B4-BE49-F238E27FC236}">
                <a16:creationId xmlns:a16="http://schemas.microsoft.com/office/drawing/2014/main" id="{757E5638-38C2-5190-9D25-B388016DD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4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ringen | Without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achtergrond | Title background">
            <a:extLst>
              <a:ext uri="{FF2B5EF4-FFF2-40B4-BE49-F238E27FC236}">
                <a16:creationId xmlns:a16="http://schemas.microsoft.com/office/drawing/2014/main" id="{4BF0381E-64FF-E4F7-BD58-236B750EA198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ndertitel | Subtitle">
            <a:extLst>
              <a:ext uri="{FF2B5EF4-FFF2-40B4-BE49-F238E27FC236}">
                <a16:creationId xmlns:a16="http://schemas.microsoft.com/office/drawing/2014/main" id="{81FE288D-BC76-D2E8-7E63-13602DBEC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3" name="Titel | Title">
            <a:extLst>
              <a:ext uri="{FF2B5EF4-FFF2-40B4-BE49-F238E27FC236}">
                <a16:creationId xmlns:a16="http://schemas.microsoft.com/office/drawing/2014/main" id="{510BC5AA-CA89-2FCB-B262-4D5946378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8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fbeelding | No imag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43331" y="4321694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 | Title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1829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erdere logo's | Multiple logos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3">
            <a:extLst>
              <a:ext uri="{FF2B5EF4-FFF2-40B4-BE49-F238E27FC236}">
                <a16:creationId xmlns:a16="http://schemas.microsoft.com/office/drawing/2014/main" id="{B1D7F52C-D248-4FDE-5E63-045149F50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84034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Logo 2">
            <a:extLst>
              <a:ext uri="{FF2B5EF4-FFF2-40B4-BE49-F238E27FC236}">
                <a16:creationId xmlns:a16="http://schemas.microsoft.com/office/drawing/2014/main" id="{273FD905-044D-55D4-79DE-675229D97A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52200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559B194D-62F5-CD40-99D6-F7F3A2B0B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845" y="3285360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4" name="Titel | Title">
            <a:extLst>
              <a:ext uri="{FF2B5EF4-FFF2-40B4-BE49-F238E27FC236}">
                <a16:creationId xmlns:a16="http://schemas.microsoft.com/office/drawing/2014/main" id="{FF85C9EA-CA51-5575-F1CB-303A00E2F4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6343" y="62011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7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boogelement | With arc el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| Subtitle">
            <a:extLst>
              <a:ext uri="{FF2B5EF4-FFF2-40B4-BE49-F238E27FC236}">
                <a16:creationId xmlns:a16="http://schemas.microsoft.com/office/drawing/2014/main" id="{F49FADBE-8919-6039-4BBB-42334647D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noFill/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6" name="Titel | Title">
            <a:extLst>
              <a:ext uri="{FF2B5EF4-FFF2-40B4-BE49-F238E27FC236}">
                <a16:creationId xmlns:a16="http://schemas.microsoft.com/office/drawing/2014/main" id="{06D15347-39FC-2BC0-D79C-3FDC06831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noFill/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rgbClr val="001158"/>
                </a:solidFill>
              </a:defRPr>
            </a:lvl1pPr>
          </a:lstStyle>
          <a:p>
            <a:pPr lvl="0"/>
            <a:r>
              <a:rPr lang="nl-NL" dirty="0"/>
              <a:t>Tekst |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AFBD849F-165F-60B3-8C73-100A2E36EB06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6124575" cy="6858000"/>
          </a:xfrm>
          <a:custGeom>
            <a:avLst/>
            <a:gdLst>
              <a:gd name="csX0" fmla="*/ 5487683 w 6124575"/>
              <a:gd name="csY0" fmla="*/ 0 h 6858000"/>
              <a:gd name="csX1" fmla="*/ 5917563 w 6124575"/>
              <a:gd name="csY1" fmla="*/ 0 h 6858000"/>
              <a:gd name="csX2" fmla="*/ 5913999 w 6124575"/>
              <a:gd name="csY2" fmla="*/ 6153 h 6858000"/>
              <a:gd name="csX3" fmla="*/ 5961575 w 6124575"/>
              <a:gd name="csY3" fmla="*/ 6581852 h 6858000"/>
              <a:gd name="csX4" fmla="*/ 6124575 w 6124575"/>
              <a:gd name="csY4" fmla="*/ 6858000 h 6858000"/>
              <a:gd name="csX5" fmla="*/ 5694695 w 6124575"/>
              <a:gd name="csY5" fmla="*/ 6858000 h 6858000"/>
              <a:gd name="csX6" fmla="*/ 5531694 w 6124575"/>
              <a:gd name="csY6" fmla="*/ 6581852 h 6858000"/>
              <a:gd name="csX7" fmla="*/ 5484119 w 6124575"/>
              <a:gd name="csY7" fmla="*/ 6153 h 6858000"/>
              <a:gd name="csX8" fmla="*/ 0 w 6124575"/>
              <a:gd name="csY8" fmla="*/ 0 h 6858000"/>
              <a:gd name="csX9" fmla="*/ 4486275 w 6124575"/>
              <a:gd name="csY9" fmla="*/ 0 h 6858000"/>
              <a:gd name="csX10" fmla="*/ 4505325 w 6124575"/>
              <a:gd name="csY10" fmla="*/ 0 h 6858000"/>
              <a:gd name="csX11" fmla="*/ 5478471 w 6124575"/>
              <a:gd name="csY11" fmla="*/ 0 h 6858000"/>
              <a:gd name="csX12" fmla="*/ 5474907 w 6124575"/>
              <a:gd name="csY12" fmla="*/ 6153 h 6858000"/>
              <a:gd name="csX13" fmla="*/ 5522483 w 6124575"/>
              <a:gd name="csY13" fmla="*/ 6581852 h 6858000"/>
              <a:gd name="csX14" fmla="*/ 5685484 w 6124575"/>
              <a:gd name="csY14" fmla="*/ 6858000 h 6858000"/>
              <a:gd name="csX15" fmla="*/ 4505325 w 6124575"/>
              <a:gd name="csY15" fmla="*/ 6858000 h 6858000"/>
              <a:gd name="csX16" fmla="*/ 4486275 w 6124575"/>
              <a:gd name="csY16" fmla="*/ 6858000 h 6858000"/>
              <a:gd name="csX17" fmla="*/ 4253188 w 6124575"/>
              <a:gd name="csY17" fmla="*/ 6858000 h 6858000"/>
              <a:gd name="csX18" fmla="*/ 4253188 w 6124575"/>
              <a:gd name="csY18" fmla="*/ 6846325 h 6858000"/>
              <a:gd name="csX19" fmla="*/ 4115224 w 6124575"/>
              <a:gd name="csY19" fmla="*/ 6591055 h 6858000"/>
              <a:gd name="csX20" fmla="*/ 1827972 w 6124575"/>
              <a:gd name="csY20" fmla="*/ 5019124 h 6858000"/>
              <a:gd name="csX21" fmla="*/ 5461 w 6124575"/>
              <a:gd name="csY21" fmla="*/ 5574608 h 6858000"/>
              <a:gd name="csX22" fmla="*/ 546 w 6124575"/>
              <a:gd name="csY22" fmla="*/ 3403345 h 6858000"/>
              <a:gd name="csX23" fmla="*/ 0 w 6124575"/>
              <a:gd name="csY23" fmla="*/ 3270517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124575" h="6858000">
                <a:moveTo>
                  <a:pt x="5487683" y="0"/>
                </a:moveTo>
                <a:lnTo>
                  <a:pt x="5917563" y="0"/>
                </a:lnTo>
                <a:lnTo>
                  <a:pt x="5913999" y="6153"/>
                </a:lnTo>
                <a:cubicBezTo>
                  <a:pt x="5247669" y="1188468"/>
                  <a:pt x="4375232" y="3761764"/>
                  <a:pt x="5961575" y="6581852"/>
                </a:cubicBezTo>
                <a:lnTo>
                  <a:pt x="6124575" y="6858000"/>
                </a:lnTo>
                <a:lnTo>
                  <a:pt x="5694695" y="6858000"/>
                </a:lnTo>
                <a:lnTo>
                  <a:pt x="5531694" y="6581852"/>
                </a:lnTo>
                <a:cubicBezTo>
                  <a:pt x="3945351" y="3761764"/>
                  <a:pt x="4817789" y="1188468"/>
                  <a:pt x="5484119" y="6153"/>
                </a:cubicBezTo>
                <a:close/>
                <a:moveTo>
                  <a:pt x="0" y="0"/>
                </a:moveTo>
                <a:lnTo>
                  <a:pt x="4486275" y="0"/>
                </a:lnTo>
                <a:lnTo>
                  <a:pt x="4505325" y="0"/>
                </a:lnTo>
                <a:lnTo>
                  <a:pt x="5478471" y="0"/>
                </a:lnTo>
                <a:lnTo>
                  <a:pt x="5474907" y="6153"/>
                </a:lnTo>
                <a:cubicBezTo>
                  <a:pt x="4808578" y="1188468"/>
                  <a:pt x="3936140" y="3761764"/>
                  <a:pt x="5522483" y="6581852"/>
                </a:cubicBezTo>
                <a:lnTo>
                  <a:pt x="5685484" y="6858000"/>
                </a:lnTo>
                <a:lnTo>
                  <a:pt x="4505325" y="6858000"/>
                </a:lnTo>
                <a:lnTo>
                  <a:pt x="4486275" y="6858000"/>
                </a:lnTo>
                <a:lnTo>
                  <a:pt x="4253188" y="6858000"/>
                </a:lnTo>
                <a:lnTo>
                  <a:pt x="4253188" y="6846325"/>
                </a:lnTo>
                <a:lnTo>
                  <a:pt x="4115224" y="6591055"/>
                </a:lnTo>
                <a:cubicBezTo>
                  <a:pt x="3379343" y="5325554"/>
                  <a:pt x="2437778" y="5079864"/>
                  <a:pt x="1827972" y="5019124"/>
                </a:cubicBezTo>
                <a:cubicBezTo>
                  <a:pt x="1177513" y="4954336"/>
                  <a:pt x="448113" y="5230191"/>
                  <a:pt x="5461" y="5574608"/>
                </a:cubicBezTo>
                <a:cubicBezTo>
                  <a:pt x="5092" y="4720154"/>
                  <a:pt x="3030" y="4039966"/>
                  <a:pt x="546" y="3403345"/>
                </a:cubicBezTo>
                <a:lnTo>
                  <a:pt x="0" y="3270517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titel | Closing titl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30415" y="4141700"/>
            <a:ext cx="6712642" cy="106182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ctr">
              <a:defRPr lang="nl-NL" sz="35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8913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Eindtitel | </a:t>
            </a:r>
            <a:r>
              <a:rPr lang="nl-NL" dirty="0" err="1"/>
              <a:t>Closing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5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1301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a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DB96C91C-E0D4-EC11-3F8B-CAE7339B82E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43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961FC177-D146-B3C7-089B-2F0BF5E5ABA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1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chtergrond |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p | Heading">
            <a:extLst>
              <a:ext uri="{FF2B5EF4-FFF2-40B4-BE49-F238E27FC236}">
                <a16:creationId xmlns:a16="http://schemas.microsoft.com/office/drawing/2014/main" id="{E04281C4-5487-A8A8-A808-56030A9D0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" name="Tekst | Text">
            <a:extLst>
              <a:ext uri="{FF2B5EF4-FFF2-40B4-BE49-F238E27FC236}">
                <a16:creationId xmlns:a16="http://schemas.microsoft.com/office/drawing/2014/main" id="{26083E2E-6335-9F99-8170-5E37C58D0D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109983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blokken | Two 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84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27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4" name="Kop | Heading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5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sgalerij | Image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25396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04362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5186323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7340077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945280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69D8373-14CB-C760-4AB3-77C1A9C1B5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5396" y="4349325"/>
            <a:ext cx="1812262" cy="10128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400">
                <a:latin typeface="Vestula Pro" panose="020B0A03060302020204" pitchFamily="34" charset="0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lvl="0"/>
            <a:r>
              <a:rPr lang="nl-NL" dirty="0"/>
              <a:t>Onderschrift (optioneel)</a:t>
            </a:r>
          </a:p>
          <a:p>
            <a:pPr lvl="0"/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04F93ADE-5C0C-408E-7495-B8BA38C81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43624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2D8DE384-1B30-1B1D-344B-5776F2A940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7674" y="4341600"/>
            <a:ext cx="1810800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25BB4D9D-2AFB-D4EC-7B5F-B7AD8A723E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40077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F9FCF455-94FF-CC07-2CE6-4B2C2B5E81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342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939D5F5-DDB1-D692-3CCB-72A299604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925396" y="360000"/>
            <a:ext cx="103412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70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EN">
            <a:extLst>
              <a:ext uri="{FF2B5EF4-FFF2-40B4-BE49-F238E27FC236}">
                <a16:creationId xmlns:a16="http://schemas.microsoft.com/office/drawing/2014/main" id="{F060E9E6-F4FE-AF50-CB38-D7686AE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31497"/>
            <a:ext cx="4249280" cy="1926502"/>
          </a:xfrm>
          <a:prstGeom prst="rect">
            <a:avLst/>
          </a:prstGeom>
        </p:spPr>
      </p:pic>
      <p:pic>
        <p:nvPicPr>
          <p:cNvPr id="5" name="Logo NL" descr="Afbeelding met tekst, logo, symbool, Lettertype&#10;&#10;Door AI gegenereerde inhoud is mogelijk onjuist.">
            <a:extLst>
              <a:ext uri="{FF2B5EF4-FFF2-40B4-BE49-F238E27FC236}">
                <a16:creationId xmlns:a16="http://schemas.microsoft.com/office/drawing/2014/main" id="{48115860-2C01-1CEF-6C22-14E5BF50DD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1497"/>
            <a:ext cx="424928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5" r:id="rId4"/>
    <p:sldLayoutId id="2147483833" r:id="rId5"/>
    <p:sldLayoutId id="214748377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DC18183-0354-EBD2-86E1-3F4CAE2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Kop | </a:t>
            </a:r>
            <a:r>
              <a:rPr lang="nl-NL" dirty="0" err="1"/>
              <a:t>Heading</a:t>
            </a: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9AE6F7-748E-3BDB-680C-7A4BABAB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39" r:id="rId3"/>
    <p:sldLayoutId id="2147483820" r:id="rId4"/>
    <p:sldLayoutId id="2147483822" r:id="rId5"/>
    <p:sldLayoutId id="2147483845" r:id="rId6"/>
    <p:sldLayoutId id="2147483838" r:id="rId7"/>
    <p:sldLayoutId id="2147483843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b="0" i="0" kern="1200" dirty="0">
          <a:solidFill>
            <a:srgbClr val="0C2577"/>
          </a:solidFill>
          <a:latin typeface="Merriweather" pitchFamily="2" charset="77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workshop</a:t>
            </a:r>
          </a:p>
          <a:p>
            <a:r>
              <a:t>Instructor copy — most of these have more than one defensible answer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Exercise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Which single control feature has the highest count? Is that worrying?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sort the control features by total count and look at the top of the list, together with the class each one belongs to.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ctrl = pd.Series(tot[is_ctrl], index=adata.var_names[is_ctrl])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ctrl.sort_values(ascending=False).head()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On this dataset:</a:t>
            </a:r>
            <a:r>
              <a:rPr b="1" sz="1300"/>
              <a:t> the top entries are all </a:t>
            </a:r>
            <a:r>
              <a:rPr b="1" sz="1300"/>
              <a:t>Deprecated Codewords</a:t>
            </a:r>
            <a:r>
              <a:rPr b="1" sz="1300"/>
              <a:t>, carrying hundreds of thousands of counts — more than most real genes.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Not worrying, and not background.</a:t>
            </a:r>
            <a:r>
              <a:rPr b="0" sz="1300"/>
              <a:t> Deprecated codewords are probes retired from the active panel that still detect real transcripts. They are not controls at all.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The true negative controls sit far lower. Judge the run on those.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 The largest control feature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What fraction of transcripts is assigned to a cell? Does it differ by gene?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un = tx['cell_id'].astype(str).isin(['UNASSIGNED', '-1', '0'])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un.mean()   # overall unassigned fraction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10–40%</a:t>
            </a:r>
            <a:r>
              <a:rPr b="1" sz="1300"/>
              <a:t> unassigned. That is normal, not a failure.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Per gene</a:t>
            </a:r>
            <a:r>
              <a:rPr b="0" sz="1300"/>
              <a:t> it is far from uniform. Group by `feature_name` and compare: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secreted and extracellular-matrix transcripts sit outside cell boundaries and are lost most; genes in cells with little cytoplasm follow.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point:</a:t>
            </a:r>
            <a:r>
              <a:rPr b="1" sz="1300"/>
              <a:t> segmentation loss is a </a:t>
            </a:r>
            <a:r>
              <a:rPr b="1" sz="1300"/>
              <a:t>gene-specific bias</a:t>
            </a:r>
            <a:r>
              <a:rPr b="1" sz="1300"/>
              <a:t>, not a uniform loss of sensitivity. It shifts composition, not just depth.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 Unassigned transcripts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Name one question scRNA-seq can answer that Xenium cannot, and vice versa.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Only scRNA-seq: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"Is there an unexpected fibroblast state we have no marker for?" — needs the whole transcriptome; a 5K panel can only find what it was built to find.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"What is the full receptor repertoire of these T cells?"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Only Xenium: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"Does CD8 T-cell exhaustion increase with proximity to the tumour nest edge?" — needs distance, which dissociation destroys.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"Are macrophages at the invasive front in a different state from those in the stroma?" — same cell type, different position.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Accept any answer containing a spatial preposition</a:t>
            </a:r>
            <a:r>
              <a:rPr b="1" sz="1300"/>
              <a:t> — next to, within, distance from, gradient across — or a claim about unknown states.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 What can each method answer? (discussion)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Is there a region you would exclude before any per-cell filtering?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mask a rectangle on `adata.obsm["spatial"]`, count the cells, and compare median counts inside against outside.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Look for</a:t>
            </a:r>
            <a:r>
              <a:rPr b="0" sz="1300"/>
              <a:t> a tissue edge, a fold, or a band with a straight boundary — straight edges are technical, soft ones usually biological.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methods sentence</a:t>
            </a:r>
            <a:r>
              <a:rPr b="1" sz="1300"/>
              <a:t> is the deliverable, not the mask: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"Cells within 200 µm of the section edge were excluded because median transcript counts there were X versus Y elsewhere, consistent with tissue-edge damage."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Why this beats a threshold:</a:t>
            </a:r>
            <a:r>
              <a:rPr b="0" sz="1300"/>
              <a:t> it is a stated, spatially defined exclusion rather than an invisible consequence of a count cutoff.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 A region to exclude wholesale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 Filter on density instead of counts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Re-filter on counts_per_um2 at a matched removal rate. Does the structure weaken?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in the choice cell set `MIN_COUNTS = 0` and `MIN_COUNTS_PER_UM2` to the </a:t>
            </a:r>
            <a:r>
              <a:rPr b="1" sz="1300"/>
              <a:t>matched value the cell prints</a:t>
            </a:r>
            <a:r>
              <a:rPr b="0" sz="1300"/>
              <a:t>, so both filters remove a comparable number of cells. Then re-run steps 3 and 4.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Usually yes, it weakens — but only a little.</a:t>
            </a:r>
            <a:r>
              <a:rPr b="1" sz="1300"/>
              <a:t> On a simulated dense nest, counts ≥ 10 keeps 77% of nest cells; a density cutoff removing the same overall number keeps 79%.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`total_counts` penalises small cells; `counts_per_um2` asks whether a cell yielded a reasonable amount *for its size*, which is a different question.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it weakens:</a:t>
            </a:r>
            <a:r>
              <a:rPr b="0" sz="1300"/>
              <a:t> your original filter was measuring cell size more than data quality — worth saying in the methods.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it does not:</a:t>
            </a:r>
            <a:r>
              <a:rPr b="0" sz="1300"/>
              <a:t> the tissue there really is sparser. Think necrosis, fixation, or a fold, and consider excluding the region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Run their four numbers alongside yours. What does the disagreement cost?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compute both keep-masks, then plot the cells that one keeps and the other discards.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only_mine = keep_A &amp; ~keep_B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a real spread.</a:t>
            </a:r>
            <a:r>
              <a:rPr b="1" sz="1300"/>
              <a:t> On a section with a dense nest, three plausible choices give: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lenient (counts ≥ 5): ~96% kept overall, ~90% of the nest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middle (counts ≥ 10): ~91% overall, ~77% of the nest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strict (counts ≥ 30, area p5–p95): ~56% overall, </a:t>
            </a:r>
            <a:r>
              <a:rPr b="1" sz="1300"/>
              <a:t>~24% of the nest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point:</a:t>
            </a:r>
            <a:r>
              <a:rPr b="1" sz="1300"/>
              <a:t> a threshold that sounds merely cautious removes three quarters of the tumour. Nobody chooses it intending that.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 Compare thresholds with your neighbour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Set MIN_COUNTS = 50, re-run, and write the methods sentence for that.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Expect</a:t>
            </a:r>
            <a:r>
              <a:rPr b="0" sz="1300"/>
              <a:t> to lose roughly half the section, concentrated in the dense tumour regions.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sentence becomes hard to write honestly</a:t>
            </a:r>
            <a:r>
              <a:rPr b="1" sz="1300"/>
              <a:t>, which is the exercise: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"Cells with fewer than 50 transcripts were excluded (n ≈ half the section). Removed cells were strongly enriched in tumour nests, so tumour frequencies are substantially underestimated."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you could defend that in review</a:t>
            </a:r>
            <a:r>
              <a:rPr b="0" sz="1300"/>
              <a:t>, your original threshold may have been over-cautious.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you could not</a:t>
            </a:r>
            <a:r>
              <a:rPr b="1" sz="1300"/>
              <a:t>, you have just learned where your real limit is — which is more useful than a number copied from a paper.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 Deliberately over-filter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Re-run explore() at two settings you were unsure about and cross-tabulate.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explore(resolution=0.5, key="cl_low",  show=False)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explore(resolution=1.5, key="cl_high", show=False)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pd.crosstab(sub.obs["cl_low"], sub.obs["cl_high"])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Note the `key` argument</a:t>
            </a:r>
            <a:r>
              <a:rPr b="0" sz="1300"/>
              <a:t> — without it each call overwrites the last labeling and there is nothing to compare.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Stable, whatever you do:</a:t>
            </a:r>
            <a:r>
              <a:rPr b="1" sz="1300"/>
              <a:t> the large, transcriptionally distinct compartments — tumour, endothelium, immune. These are real.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Splits and merges:</a:t>
            </a:r>
            <a:r>
              <a:rPr b="0" sz="1300"/>
              <a:t> the fibroblast states, and anything separated by a gradient rather than a switch.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rule:</a:t>
            </a:r>
            <a:r>
              <a:rPr b="1" sz="1300"/>
              <a:t> a population that exists only at one resolution is a claim you should not make without independent support.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Quantify it if you like: adjusted Rand index across settings. Below ~0.7 means the resolution is finer than the data supports.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 Does the clustering survive its parameters?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Rare cell type, technical artefact, or region-specific state? Three lines of evidence.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1. Markers</a:t>
            </a:r>
            <a:r>
              <a:rPr b="0" sz="1300"/>
              <a:t> — coherent lineage, or a grab-bag from several lineages? A grab-bag suggests doublets or a segmentation artefact.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2. QC</a:t>
            </a:r>
            <a:r>
              <a:rPr b="0" sz="1300"/>
              <a:t> — is it at an extreme of `total_counts` or `cell_area`? Then it is probably technical.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3. Space (the one that settles it)</a:t>
            </a:r>
            <a:r>
              <a:rPr b="1" sz="1300"/>
              <a:t> — scattered at random suggests an artefact; concentrated in one structure suggests real biology.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On this dataset</a:t>
            </a:r>
            <a:r>
              <a:rPr b="0" sz="1300"/>
              <a:t> the ciliated epithelial population (FAM183A, CFAP100) is small, marker-coherent, and spatially concentrated — a genuine rare type a generic marker list would have missed.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 Is your smallest cluster real?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 A marker gene across cell size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Profile TRAC or C1QC against cell area rather than an abundant gene.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Expect the curves to separate far more</a:t>
            </a:r>
            <a:r>
              <a:rPr b="1" sz="1300"/>
              <a:t> than for a ubiquitous gene.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Immune cells are small and have little cytoplasm, so they sit in the bottom area deciles. Anything that depends on cell size shows up sharply here.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Consequence for an immune-focused study:</a:t>
            </a:r>
            <a:r>
              <a:rPr b="1" sz="1300"/>
              <a:t> the normalisation choice is not cosmetic. It changes how strongly immune cells separate, and therefore how many immune clusters you get.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Defensible:</a:t>
            </a:r>
            <a:r>
              <a:rPr b="0" sz="1300"/>
              <a:t> report the immune fraction under two schemes and say so.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Not defensible:</a:t>
            </a:r>
            <a:r>
              <a:rPr b="0" sz="1300"/>
              <a:t> try both silently and keep whichever gave more clusters.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Is the immune population clustered? At what radius is the deviation largest?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read Ripley's L for the immune cell type and find where the curve departs most from the envelope.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clustered</a:t>
            </a:r>
            <a:r>
              <a:rPr b="1" sz="1300"/>
              <a:t>, with the peak deviation somewhere in the </a:t>
            </a:r>
            <a:r>
              <a:rPr b="1" sz="1300"/>
              <a:t>50–200 µm</a:t>
            </a:r>
            <a:r>
              <a:rPr b="1" sz="1300"/>
              <a:t> range in tumour tissue.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What has that size:</a:t>
            </a:r>
            <a:r>
              <a:rPr b="0" sz="1300"/>
              <a:t> perivascular cuffs and small aggregates. A peak nearer 300–500 µm suggests tertiary lymphoid structures.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Report the radius, in microns.</a:t>
            </a:r>
            <a:r>
              <a:rPr b="1" sz="1300"/>
              <a:t> "Clustered" is a weak claim; "clustered with peak deviation at 120 µm" is a number that transfers between patients and between studies.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Dispersed or regular spacing is rare and interesting — it implies something actively controlling position.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 Clustered, dispersed, or random?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Find a gene with high Moran's I but low variance between clusters. What causes it?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compute per-cell-type means directly — `rank_genes_groups` is not run in notebook 04, so do not depend on it. The exercise now gives the snippet.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What produces it — things that are not cell types: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hypoxia near a necrotic core (VEGFA, CA9-type genes)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an interferon response radiating from an inflammatory focus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a proliferation gradient across a nest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And, less excitingly, technical gradients</a:t>
            </a:r>
            <a:r>
              <a:rPr b="0" sz="1300"/>
              <a:t> — focus or permeabilisation. Check the pattern is not a stripe or a field-of-view edge before getting excited.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point:</a:t>
            </a:r>
            <a:r>
              <a:rPr b="1" sz="1300"/>
              <a:t> these are exactly the genes a cluster-first analysis misses, because they vary *across* cell types rather than between them.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 Spatially structured, but not a marker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Re-run with K = 4 and K = 10. What appears, what merges, and how do you justify K?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K = 4</a:t>
            </a:r>
            <a:r>
              <a:rPr b="0" sz="1300"/>
              <a:t> typically collapses to tumour / stroma / vessel / immune — true but not informative.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K = 10</a:t>
            </a:r>
            <a:r>
              <a:rPr b="0" sz="1300"/>
              <a:t> starts splitting the stroma into pieces you cannot name.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criterion is not a silhouette score.</a:t>
            </a:r>
            <a:r>
              <a:rPr b="1" sz="1300"/>
              <a:t> Keep the largest K at which </a:t>
            </a:r>
            <a:r>
              <a:rPr b="1" sz="1300"/>
              <a:t>every niche is still nameable</a:t>
            </a:r>
            <a:r>
              <a:rPr b="1" sz="1300"/>
              <a:t> as a structure you could point to on a slide.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Then check stability</a:t>
            </a:r>
            <a:r>
              <a:rPr b="0" sz="1300"/>
              <a:t> across random seeds: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adjusted_rand_score(labels_seed0, labels_seed1)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Below ~0.7 means K is finer than the data supports.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This is where an anatomy audience outperforms a bioinformatics one — you already know what the structures are called.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 How many niches?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Does any gene differ between niches within one cell type?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subset to one cell type, keep niches with enough cells, and run `rank_genes_groups` with `groupby="niche"`.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yes</a:t>
            </a:r>
            <a:r>
              <a:rPr b="1" sz="1300"/>
              <a:t> — a fibroblast at the invasive front differs from one in the stroma. This design is impossible in dissociated data.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caveat that must be raised: spillover.</a:t>
            </a:r>
            <a:r>
              <a:rPr b="1" sz="1300"/>
              <a:t> A fibroblast surrounded by tumour picks up tumour transcripts through segmentation error, so `EPCAM` appearing as a niche marker is an artefact, not a state.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check:</a:t>
            </a:r>
            <a:r>
              <a:rPr b="0" sz="1300"/>
              <a:t> is the difference in genes the *neighbours* express (spillover), or in genes the neighbours do </a:t>
            </a:r>
            <a:r>
              <a:rPr b="1" sz="1300"/>
              <a:t>not</a:t>
            </a:r>
            <a:r>
              <a:rPr b="0" sz="1300"/>
              <a:t> express (a real state change)? Only the second is convincing.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 Same cell type, different niche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 Two distances at once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Repeat for distance to vessels. Does any gene respond to one and not the other?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The trap:</a:t>
            </a:r>
            <a:r>
              <a:rPr b="1" sz="1300"/>
              <a:t> vessels sit in stroma, so distance-to-vessel and distance-to-tumour are correlated. A univariate association with one is partly an association with the other.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fit both together rather than separately.</a:t>
            </a: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smf.ols("expr ~ dist_tumour + dist_vessel", data=sub.obs).fit()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Check the correlation first</a:t>
            </a:r>
            <a:r>
              <a:rPr b="0" sz="1300"/>
              <a:t> — if it is above ~0.7 the two coefficients are hard to separate and you should say so rather than pick one.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point:</a:t>
            </a:r>
            <a:r>
              <a:rPr b="1" sz="1300"/>
              <a:t> reporting the marginal effect of a single distance is the commonest analytical error in this style of paper.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Place your axis on a boundary you can see but cannot name with a gene.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Good candidates:</a:t>
            </a:r>
            <a:r>
              <a:rPr b="0" sz="1300"/>
              <a:t> the section edge, a fold, a capsule, the interface between two stromal regions, the boundary between two lobes.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read two points off the coordinate grid, compute signed distance, and profile composition and expression across it.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a gene responds:</a:t>
            </a:r>
            <a:r>
              <a:rPr b="1" sz="1300"/>
              <a:t> you have found a transcriptional boundary that no marker defines — and you defined it by eye, which is legitimate provided you say so.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nothing responds: that is a real result.</a:t>
            </a:r>
            <a:r>
              <a:rPr b="1" sz="1300"/>
              <a:t> The boundary is architectural rather than transcriptional. Report it.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Fix the line before looking at the expression plots.</a:t>
            </a:r>
            <a:r>
              <a:rPr b="0" sz="1300"/>
              <a:t> Otherwise you can slide it until something looks interesting.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 An axis with no marker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Correlate two genes on the 10 µm grid and across cells. Do they agree?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Grid positive, cell negative</a:t>
            </a:r>
            <a:r>
              <a:rPr b="1" sz="1300"/>
              <a:t> → the genes are in *adjacent but distinct* cells. Correct and meaningful: epithelium next to stroma.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Both positive and similar</a:t>
            </a:r>
            <a:r>
              <a:rPr b="0" sz="1300"/>
              <a:t> → genuine co-expression in the same cells.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Cell positive, grid near zero</a:t>
            </a:r>
            <a:r>
              <a:rPr b="1" sz="1300"/>
              <a:t> → suspicious. Likely spillover creating apparent co-expression the raw molecule positions do not support.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Why this works:</a:t>
            </a:r>
            <a:r>
              <a:rPr b="0" sz="1300"/>
              <a:t> the grid never sees your segmentation. It is an independent check on everything built on top of the polygons.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The last case is the one to hunt for in your own data.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 Grid correlation versus cell correlation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How many targeted genes have fewer counts than the largest control feature?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 this on the true negative controls</a:t>
            </a:r>
            <a:r>
              <a:rPr b="1" sz="1300"/>
              <a:t>, not on the whole non-gene set — otherwise a deprecated codeword sets an absurd bar.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a small number</a:t>
            </a:r>
            <a:r>
              <a:rPr b="0" sz="1300"/>
              <a:t> on a clean run, concentrated among genes that are simply not expressed in this tissue.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framing worth keeping:</a:t>
            </a:r>
            <a:r>
              <a:rPr b="1" sz="1300"/>
              <a:t> those genes are, in this section, less reliably measured than a feature designed to measure nothing.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That is a sharper way to say "not detected" and it is defensible in a methods section.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A.1  Genes below the largest control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Find genes that pass the background test and fail the usability test.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These are two different questions.</a:t>
            </a:r>
            <a:r>
              <a:rPr b="1" sz="1300"/>
              <a:t> Above background = not noise. Usable = enough cells to compute anything.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several hundred</a:t>
            </a:r>
            <a:r>
              <a:rPr b="0" sz="1300"/>
              <a:t> genes in the gap on a clean run, because the background threshold excludes almost nothing.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Then the spatial check, which is the point:</a:t>
            </a:r>
            <a:r>
              <a:rPr b="1" sz="1300"/>
              <a:t> a gene detected in 1% of cells that are </a:t>
            </a:r>
            <a:r>
              <a:rPr b="1" sz="1300"/>
              <a:t>all in one place</a:t>
            </a:r>
            <a:r>
              <a:rPr b="1" sz="1300"/>
              <a:t> is a rare-cell-type marker. The same 1% scattered at random is a trickle of noise.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So a low-detection gene is not automatically discardable — it depends entirely on *where* those cells are.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A.2  Above background but not usable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A.3  Tightening the FDR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Set TARGET_FDR to 0.10 and 0.01. What changes, and which call do you believe?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Expect only a small change</a:t>
            </a:r>
            <a:r>
              <a:rPr b="0" sz="1300"/>
              <a:t> in the number of genes kept — on a clean run the threshold sits at 2–3 counts either way.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instructive part is the limit</a:t>
            </a:r>
            <a:r>
              <a:rPr b="1" sz="1300"/>
              <a:t>, not the numbers. With ~650 controls, the smallest measurable noise probability is 1/650, so you cannot ask for an arbitrarily fine FDR.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For a gene included at 0.10 and excluded at 0.01:</a:t>
            </a:r>
            <a:r>
              <a:rPr b="1" sz="1300"/>
              <a:t> look at its spatial pattern. Structured means real; scattered means noise.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Spatial coherence is a better arbiter than either threshold, and it is only available because this is spatial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Take three genes you would want to use. Trust them per cell, per cluster, or not at all?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Rule of thumb against the negative-control distribution: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below the control 95th percentile → </a:t>
            </a:r>
            <a:r>
              <a:rPr b="1" sz="1300"/>
              <a:t>not measurable</a:t>
            </a:r>
            <a:r>
              <a:rPr b="0" sz="1300"/>
              <a:t>, do not use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within a few-fold of it → </a:t>
            </a:r>
            <a:r>
              <a:rPr b="1" sz="1300"/>
              <a:t>cluster-level means only</a:t>
            </a:r>
          </a:p>
          <a:p>
            <a:pPr lvl="1">
              <a:spcAft>
                <a:spcPts val="700"/>
              </a:spcAft>
              <a:buNone/>
            </a:pPr>
            <a:r>
              <a:rPr b="0" sz="1300"/>
              <a:t>an order of magnitude above → fine per cell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On a clean Prime run</a:t>
            </a:r>
            <a:r>
              <a:rPr b="1" sz="1300"/>
              <a:t> the background is around 1e-4, so most panel genes clear this easily — the binding constraint is statistical power, not contamination.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Low-abundance immune genes are the usual casualties, and they are often exactly the ones people want per-cell.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A.4  Where do your genes of interest sit?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Correlate it with DCN, EPCAM and PTPRC. Which compartment does it belong to?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Do:</a:t>
            </a:r>
            <a:r>
              <a:rPr b="0" sz="1300"/>
              <a:t> correlate across cells, then plot it on the tissue.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Follows the fibrous stroma</a:t>
            </a:r>
            <a:r>
              <a:rPr b="0" sz="1300"/>
              <a:t> → a retired collagen or matrix probe.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Follows the tumour nests</a:t>
            </a:r>
            <a:r>
              <a:rPr b="0" sz="1300"/>
              <a:t> → a retired epithelial probe.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Diffuse, no structure</a:t>
            </a:r>
            <a:r>
              <a:rPr b="0" sz="1300"/>
              <a:t> → genuine decoding noise, and the counts mean nothing.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Why it matters:</a:t>
            </a:r>
            <a:r>
              <a:rPr b="1" sz="1300"/>
              <a:t> if it tracks a compartment, the panel is systematically under-reporting that compartment's transcripts — the signal is in the run but attributed to no gene.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Then check</a:t>
            </a:r>
            <a:r>
              <a:rPr b="1" sz="1300"/>
              <a:t> whether those cells are the ones QC discarded. On this dataset, they were.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A.5  What is the largest deprecated codeword?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Re-cluster with your chosen remedy and plot it beside the unfixed version.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1" sz="1300"/>
              <a:t>There is no numerical answer</a:t>
            </a:r>
            <a:r>
              <a:rPr b="1" sz="1300"/>
              <a:t>, and that is the finding. Lower depth correlation can be bought by deleting biology.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arbiter is the tissue.</a:t>
            </a:r>
            <a:r>
              <a:rPr b="0" sz="1300"/>
              <a:t> The clustering whose map looks more like histology — compact nests, stromal bands, vessels as lines — is the better one, whatever the two columns said.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Pearson residuals to score best on depth</a:t>
            </a:r>
            <a:r>
              <a:rPr b="0" sz="1300"/>
              <a:t> and to rearrange the embedding most. Both are true at once; the second is not a warning.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Watch for over-correction:</a:t>
            </a:r>
            <a:r>
              <a:rPr b="0" sz="1300"/>
              <a:t> if the clusters also collapsed, the fix removed structure along with the depth. Step back to a gentler option.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B.1  Which normalisation do you believe?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Look at the largest positive and negative loadings of PC1.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0" sz="1200">
                <a:latin typeface="Consolas"/>
              </a:rPr>
              <a:t>pd.Series(adata.varm['PCs'][:, 0], index=adata.var_names).nlargest(10)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the two lists look like two cell types</a:t>
            </a:r>
            <a:r>
              <a:rPr b="1" sz="1300"/>
              <a:t> — epithelial genes at one end, stromal at the other — then PC1 is a real biological contrast and dropping it would throw away the main axis of the tissue.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If neither end is interpretable</a:t>
            </a:r>
            <a:r>
              <a:rPr b="0" sz="1300"/>
              <a:t> and PC1 correlates with detection rate, it is a technical axis and worth addressing at the normalisation step.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On this dataset</a:t>
            </a:r>
            <a:r>
              <a:rPr b="1" sz="1300"/>
              <a:t> PC1 tracks genes detected per cell strongly but cell area weakly, so it is a detection-rate axis — which is why area-normalisation does not help here.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B.2  What is PC1 made of?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B.3  How much does theta matter?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Asked:</a:t>
            </a:r>
            <a:r>
              <a:rPr b="0" sz="1300"/>
              <a:t> Set theta to 10 and 1000 in the Pearson residual calculation.</a:t>
            </a:r>
          </a:p>
          <a:p>
            <a:pPr>
              <a:spcAft>
                <a:spcPts val="700"/>
              </a:spcAft>
              <a:buNone/>
            </a:pPr>
          </a:p>
          <a:p>
            <a:pPr>
              <a:spcAft>
                <a:spcPts val="700"/>
              </a:spcAft>
              <a:buNone/>
            </a:pPr>
            <a:r>
              <a:rPr b="0" sz="1300"/>
              <a:t>`theta` sets how much overdispersion the negative-binomial model expects. </a:t>
            </a:r>
            <a:r>
              <a:rPr b="1" sz="1300"/>
              <a:t>Low theta = expect more noise</a:t>
            </a:r>
            <a:r>
              <a:rPr b="0" sz="1300"/>
              <a:t>, so residuals shrink; high theta approaches a Poisson assumption and residuals grow.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Expect the embedding to change modestly</a:t>
            </a:r>
            <a:r>
              <a:rPr b="1" sz="1300"/>
              <a:t>, and the cluster structure to survive. If your clusters depend on theta, they were fragile anyway.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point:</a:t>
            </a:r>
            <a:r>
              <a:rPr b="0" sz="1300"/>
              <a:t> 100 is a convention carried from scRNA-seq practice, not a quantity anyone measured on your tissue. Knowing that a default is a convention is most of the benefit.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matters is whether the reasoning holds</a:t>
            </a:r>
          </a:p>
          <a:p>
            <a:r>
              <a:t>Ask for the evidence, not the conclusion.</a:t>
            </a:r>
          </a:p>
          <a:p>
            <a:r>
              <a:t>And when a statistic cannot settle it, look at the tissue.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Most of these have no single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dia's | 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0DE10A4B-82F4-4076-A806-01A05AF0CC1E}"/>
    </a:ext>
  </a:extLst>
</a:theme>
</file>

<file path=ppt/theme/theme2.xml><?xml version="1.0" encoding="utf-8"?>
<a:theme xmlns:a="http://schemas.openxmlformats.org/drawingml/2006/main" name="Inhouddia's |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4745102E-F7BE-4C89-A0DC-80C5976D533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E77E9BB20574C88F1A51905EBD0AF" ma:contentTypeVersion="4" ma:contentTypeDescription="Create a new document." ma:contentTypeScope="" ma:versionID="455c74ca665ac03d7ee707fc48cc1da4">
  <xsd:schema xmlns:xsd="http://www.w3.org/2001/XMLSchema" xmlns:xs="http://www.w3.org/2001/XMLSchema" xmlns:p="http://schemas.microsoft.com/office/2006/metadata/properties" xmlns:ns2="01a1795b-c314-4f6e-9e61-ae7877c66689" targetNamespace="http://schemas.microsoft.com/office/2006/metadata/properties" ma:root="true" ma:fieldsID="7f1125c12b2a4d355fdeb8f38e5be982" ns2:_="">
    <xsd:import namespace="01a1795b-c314-4f6e-9e61-ae7877c66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1795b-c314-4f6e-9e61-ae7877c66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F798CA-DD6B-4E33-A309-EB3438BB22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a1795b-c314-4f6e-9e61-ae7877c666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C19E0A-4185-408F-B909-D5C369F93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9AE33E-0A9E-4BD8-990C-786E2BB7161F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</Words>
  <Application>Microsoft Office PowerPoint</Application>
  <PresentationFormat>Breedbeeld</PresentationFormat>
  <Paragraphs>14</Paragraphs>
  <Slides>1</Slides>
  <Notes>1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Arial</vt:lpstr>
      <vt:lpstr>Merriweather</vt:lpstr>
      <vt:lpstr>Vestula</vt:lpstr>
      <vt:lpstr>Vestula Pro</vt:lpstr>
      <vt:lpstr>Titeldia's | Title slides</vt:lpstr>
      <vt:lpstr>Inhouddia's | Content slides</vt:lpstr>
      <vt:lpstr>PowerPoint-presentatie</vt:lpstr>
    </vt:vector>
  </TitlesOfParts>
  <Company>Universiteit Leiden - ISSC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Scheen, D.A.C. (Daniël)</dc:creator>
  <cp:lastModifiedBy>Scheen, D.A.C. (Daniël)</cp:lastModifiedBy>
  <cp:revision>8</cp:revision>
  <dcterms:created xsi:type="dcterms:W3CDTF">2026-04-02T12:11:54Z</dcterms:created>
  <dcterms:modified xsi:type="dcterms:W3CDTF">2026-07-07T11:52:24Z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0x010100798E77E9BB20574C88F1A51905EBD0AF</vt:lpwstr>
  </property>
</Properties>
</file>